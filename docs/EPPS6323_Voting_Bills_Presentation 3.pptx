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196615-E65B-5B8B-CD85-F1724F406492}" v="5" dt="2026-05-05T19:13:26.868"/>
    <p1510:client id="{F9400D87-62A7-3C31-2B3D-FA79512949E0}" v="55" dt="2026-05-05T21:13:05.4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ad, Susan" userId="S::sxm240086@utdallas.edu::92668d49-7764-4842-b8a6-e669a9b756e2" providerId="AD" clId="Web-{17196615-E65B-5B8B-CD85-F1724F406492}"/>
    <pc:docChg chg="modSld">
      <pc:chgData name="Mohammad, Susan" userId="S::sxm240086@utdallas.edu::92668d49-7764-4842-b8a6-e669a9b756e2" providerId="AD" clId="Web-{17196615-E65B-5B8B-CD85-F1724F406492}" dt="2026-05-05T19:13:26.868" v="2" actId="20577"/>
      <pc:docMkLst>
        <pc:docMk/>
      </pc:docMkLst>
      <pc:sldChg chg="modSp">
        <pc:chgData name="Mohammad, Susan" userId="S::sxm240086@utdallas.edu::92668d49-7764-4842-b8a6-e669a9b756e2" providerId="AD" clId="Web-{17196615-E65B-5B8B-CD85-F1724F406492}" dt="2026-05-05T19:13:26.868" v="2" actId="20577"/>
        <pc:sldMkLst>
          <pc:docMk/>
          <pc:sldMk cId="0" sldId="256"/>
        </pc:sldMkLst>
        <pc:spChg chg="mod">
          <ac:chgData name="Mohammad, Susan" userId="S::sxm240086@utdallas.edu::92668d49-7764-4842-b8a6-e669a9b756e2" providerId="AD" clId="Web-{17196615-E65B-5B8B-CD85-F1724F406492}" dt="2026-05-05T19:13:26.868" v="2" actId="20577"/>
          <ac:spMkLst>
            <pc:docMk/>
            <pc:sldMk cId="0" sldId="256"/>
            <ac:spMk id="5" creationId="{00000000-0000-0000-0000-000000000000}"/>
          </ac:spMkLst>
        </pc:spChg>
      </pc:sldChg>
    </pc:docChg>
  </pc:docChgLst>
  <pc:docChgLst>
    <pc:chgData name="Mohammad, Susan" userId="S::sxm240086@utdallas.edu::92668d49-7764-4842-b8a6-e669a9b756e2" providerId="AD" clId="Web-{F9400D87-62A7-3C31-2B3D-FA79512949E0}"/>
    <pc:docChg chg="modSld">
      <pc:chgData name="Mohammad, Susan" userId="S::sxm240086@utdallas.edu::92668d49-7764-4842-b8a6-e669a9b756e2" providerId="AD" clId="Web-{F9400D87-62A7-3C31-2B3D-FA79512949E0}" dt="2026-05-05T21:13:05.455" v="36" actId="1076"/>
      <pc:docMkLst>
        <pc:docMk/>
      </pc:docMkLst>
      <pc:sldChg chg="modSp">
        <pc:chgData name="Mohammad, Susan" userId="S::sxm240086@utdallas.edu::92668d49-7764-4842-b8a6-e669a9b756e2" providerId="AD" clId="Web-{F9400D87-62A7-3C31-2B3D-FA79512949E0}" dt="2026-05-05T20:08:30.095" v="14" actId="20577"/>
        <pc:sldMkLst>
          <pc:docMk/>
          <pc:sldMk cId="0" sldId="257"/>
        </pc:sldMkLst>
        <pc:spChg chg="mod">
          <ac:chgData name="Mohammad, Susan" userId="S::sxm240086@utdallas.edu::92668d49-7764-4842-b8a6-e669a9b756e2" providerId="AD" clId="Web-{F9400D87-62A7-3C31-2B3D-FA79512949E0}" dt="2026-05-05T20:08:30.095" v="14" actId="20577"/>
          <ac:spMkLst>
            <pc:docMk/>
            <pc:sldMk cId="0" sldId="257"/>
            <ac:spMk id="4" creationId="{00000000-0000-0000-0000-000000000000}"/>
          </ac:spMkLst>
        </pc:spChg>
      </pc:sldChg>
      <pc:sldChg chg="modSp">
        <pc:chgData name="Mohammad, Susan" userId="S::sxm240086@utdallas.edu::92668d49-7764-4842-b8a6-e669a9b756e2" providerId="AD" clId="Web-{F9400D87-62A7-3C31-2B3D-FA79512949E0}" dt="2026-05-05T20:09:59.830" v="25" actId="14100"/>
        <pc:sldMkLst>
          <pc:docMk/>
          <pc:sldMk cId="0" sldId="258"/>
        </pc:sldMkLst>
        <pc:spChg chg="mod">
          <ac:chgData name="Mohammad, Susan" userId="S::sxm240086@utdallas.edu::92668d49-7764-4842-b8a6-e669a9b756e2" providerId="AD" clId="Web-{F9400D87-62A7-3C31-2B3D-FA79512949E0}" dt="2026-05-05T20:09:59.830" v="25" actId="14100"/>
          <ac:spMkLst>
            <pc:docMk/>
            <pc:sldMk cId="0" sldId="258"/>
            <ac:spMk id="5" creationId="{00000000-0000-0000-0000-000000000000}"/>
          </ac:spMkLst>
        </pc:spChg>
        <pc:spChg chg="mod">
          <ac:chgData name="Mohammad, Susan" userId="S::sxm240086@utdallas.edu::92668d49-7764-4842-b8a6-e669a9b756e2" providerId="AD" clId="Web-{F9400D87-62A7-3C31-2B3D-FA79512949E0}" dt="2026-05-05T20:09:36.705" v="22" actId="14100"/>
          <ac:spMkLst>
            <pc:docMk/>
            <pc:sldMk cId="0" sldId="258"/>
            <ac:spMk id="6" creationId="{00000000-0000-0000-0000-000000000000}"/>
          </ac:spMkLst>
        </pc:spChg>
        <pc:spChg chg="mod">
          <ac:chgData name="Mohammad, Susan" userId="S::sxm240086@utdallas.edu::92668d49-7764-4842-b8a6-e669a9b756e2" providerId="AD" clId="Web-{F9400D87-62A7-3C31-2B3D-FA79512949E0}" dt="2026-05-05T20:08:39.564" v="17" actId="20577"/>
          <ac:spMkLst>
            <pc:docMk/>
            <pc:sldMk cId="0" sldId="258"/>
            <ac:spMk id="8" creationId="{00000000-0000-0000-0000-000000000000}"/>
          </ac:spMkLst>
        </pc:spChg>
        <pc:spChg chg="mod">
          <ac:chgData name="Mohammad, Susan" userId="S::sxm240086@utdallas.edu::92668d49-7764-4842-b8a6-e669a9b756e2" providerId="AD" clId="Web-{F9400D87-62A7-3C31-2B3D-FA79512949E0}" dt="2026-05-05T20:09:28.455" v="20" actId="14100"/>
          <ac:spMkLst>
            <pc:docMk/>
            <pc:sldMk cId="0" sldId="258"/>
            <ac:spMk id="9" creationId="{00000000-0000-0000-0000-000000000000}"/>
          </ac:spMkLst>
        </pc:spChg>
      </pc:sldChg>
      <pc:sldChg chg="modSp">
        <pc:chgData name="Mohammad, Susan" userId="S::sxm240086@utdallas.edu::92668d49-7764-4842-b8a6-e669a9b756e2" providerId="AD" clId="Web-{F9400D87-62A7-3C31-2B3D-FA79512949E0}" dt="2026-05-05T21:13:05.455" v="36" actId="1076"/>
        <pc:sldMkLst>
          <pc:docMk/>
          <pc:sldMk cId="0" sldId="259"/>
        </pc:sldMkLst>
        <pc:spChg chg="mod">
          <ac:chgData name="Mohammad, Susan" userId="S::sxm240086@utdallas.edu::92668d49-7764-4842-b8a6-e669a9b756e2" providerId="AD" clId="Web-{F9400D87-62A7-3C31-2B3D-FA79512949E0}" dt="2026-05-05T20:10:28.033" v="28" actId="1076"/>
          <ac:spMkLst>
            <pc:docMk/>
            <pc:sldMk cId="0" sldId="259"/>
            <ac:spMk id="2" creationId="{00000000-0000-0000-0000-000000000000}"/>
          </ac:spMkLst>
        </pc:spChg>
        <pc:spChg chg="mod">
          <ac:chgData name="Mohammad, Susan" userId="S::sxm240086@utdallas.edu::92668d49-7764-4842-b8a6-e669a9b756e2" providerId="AD" clId="Web-{F9400D87-62A7-3C31-2B3D-FA79512949E0}" dt="2026-05-05T20:10:47.721" v="34" actId="1076"/>
          <ac:spMkLst>
            <pc:docMk/>
            <pc:sldMk cId="0" sldId="259"/>
            <ac:spMk id="13" creationId="{00000000-0000-0000-0000-000000000000}"/>
          </ac:spMkLst>
        </pc:spChg>
        <pc:spChg chg="mod">
          <ac:chgData name="Mohammad, Susan" userId="S::sxm240086@utdallas.edu::92668d49-7764-4842-b8a6-e669a9b756e2" providerId="AD" clId="Web-{F9400D87-62A7-3C31-2B3D-FA79512949E0}" dt="2026-05-05T20:10:43.362" v="33" actId="1076"/>
          <ac:spMkLst>
            <pc:docMk/>
            <pc:sldMk cId="0" sldId="259"/>
            <ac:spMk id="20" creationId="{00000000-0000-0000-0000-000000000000}"/>
          </ac:spMkLst>
        </pc:spChg>
        <pc:spChg chg="mod">
          <ac:chgData name="Mohammad, Susan" userId="S::sxm240086@utdallas.edu::92668d49-7764-4842-b8a6-e669a9b756e2" providerId="AD" clId="Web-{F9400D87-62A7-3C31-2B3D-FA79512949E0}" dt="2026-05-05T21:13:05.455" v="36" actId="1076"/>
          <ac:spMkLst>
            <pc:docMk/>
            <pc:sldMk cId="0" sldId="259"/>
            <ac:spMk id="27" creationId="{00000000-0000-0000-0000-000000000000}"/>
          </ac:spMkLst>
        </pc:spChg>
      </pc:sldChg>
      <pc:sldChg chg="modSp">
        <pc:chgData name="Mohammad, Susan" userId="S::sxm240086@utdallas.edu::92668d49-7764-4842-b8a6-e669a9b756e2" providerId="AD" clId="Web-{F9400D87-62A7-3C31-2B3D-FA79512949E0}" dt="2026-05-05T19:28:35.342" v="1" actId="1076"/>
        <pc:sldMkLst>
          <pc:docMk/>
          <pc:sldMk cId="0" sldId="265"/>
        </pc:sldMkLst>
        <pc:spChg chg="mod">
          <ac:chgData name="Mohammad, Susan" userId="S::sxm240086@utdallas.edu::92668d49-7764-4842-b8a6-e669a9b756e2" providerId="AD" clId="Web-{F9400D87-62A7-3C31-2B3D-FA79512949E0}" dt="2026-05-05T19:28:35.342" v="1" actId="1076"/>
          <ac:spMkLst>
            <pc:docMk/>
            <pc:sldMk cId="0" sldId="265"/>
            <ac:spMk id="3" creationId="{00000000-0000-0000-0000-000000000000}"/>
          </ac:spMkLst>
        </pc:spChg>
        <pc:spChg chg="mod">
          <ac:chgData name="Mohammad, Susan" userId="S::sxm240086@utdallas.edu::92668d49-7764-4842-b8a6-e669a9b756e2" providerId="AD" clId="Web-{F9400D87-62A7-3C31-2B3D-FA79512949E0}" dt="2026-05-05T19:28:30.717" v="0" actId="1076"/>
          <ac:spMkLst>
            <pc:docMk/>
            <pc:sldMk cId="0" sldId="265"/>
            <ac:spMk id="4" creationId="{00000000-0000-0000-0000-000000000000}"/>
          </ac:spMkLst>
        </pc:spChg>
      </pc:sldChg>
      <pc:sldChg chg="modSp">
        <pc:chgData name="Mohammad, Susan" userId="S::sxm240086@utdallas.edu::92668d49-7764-4842-b8a6-e669a9b756e2" providerId="AD" clId="Web-{F9400D87-62A7-3C31-2B3D-FA79512949E0}" dt="2026-05-05T19:28:48.405" v="2" actId="1076"/>
        <pc:sldMkLst>
          <pc:docMk/>
          <pc:sldMk cId="0" sldId="266"/>
        </pc:sldMkLst>
        <pc:spChg chg="mod">
          <ac:chgData name="Mohammad, Susan" userId="S::sxm240086@utdallas.edu::92668d49-7764-4842-b8a6-e669a9b756e2" providerId="AD" clId="Web-{F9400D87-62A7-3C31-2B3D-FA79512949E0}" dt="2026-05-05T19:28:48.405" v="2" actId="1076"/>
          <ac:spMkLst>
            <pc:docMk/>
            <pc:sldMk cId="0" sldId="266"/>
            <ac:spMk id="3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2560320"/>
          </a:xfrm>
          <a:prstGeom prst="rect">
            <a:avLst/>
          </a:prstGeom>
          <a:solidFill>
            <a:srgbClr val="2C47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20040"/>
            <a:ext cx="10698480" cy="1371600"/>
          </a:xfrm>
          <a:prstGeom prst="rect">
            <a:avLst/>
          </a:prstGeom>
          <a:noFill/>
        </p:spPr>
        <p:txBody>
          <a:bodyPr wrap="square">
            <a:spAutoFit/>
          </a:bodyPr>
          <a:lstStyle/>
          <a:p>
            <a:pPr algn="ctr"/>
            <a:r>
              <a:rPr sz="4000" b="1" i="0">
                <a:solidFill>
                  <a:srgbClr val="FFFFFF"/>
                </a:solidFill>
              </a:rPr>
              <a:t>Voting Bills Across Red, Blue, and Purple States</a:t>
            </a:r>
          </a:p>
        </p:txBody>
      </p:sp>
      <p:sp>
        <p:nvSpPr>
          <p:cNvPr id="4" name="TextBox 3"/>
          <p:cNvSpPr txBox="1"/>
          <p:nvPr/>
        </p:nvSpPr>
        <p:spPr>
          <a:xfrm>
            <a:off x="731520" y="1600200"/>
            <a:ext cx="10698480" cy="640080"/>
          </a:xfrm>
          <a:prstGeom prst="rect">
            <a:avLst/>
          </a:prstGeom>
          <a:noFill/>
        </p:spPr>
        <p:txBody>
          <a:bodyPr wrap="square">
            <a:spAutoFit/>
          </a:bodyPr>
          <a:lstStyle/>
          <a:p>
            <a:pPr algn="ctr"/>
            <a:r>
              <a:rPr sz="2000" b="0" i="1">
                <a:solidFill>
                  <a:srgbClr val="FFFFFF"/>
                </a:solidFill>
              </a:rPr>
              <a:t>A Text Analysis of State Voting Legislation by Political Control</a:t>
            </a:r>
          </a:p>
        </p:txBody>
      </p:sp>
      <p:sp>
        <p:nvSpPr>
          <p:cNvPr id="5" name="TextBox 4"/>
          <p:cNvSpPr txBox="1"/>
          <p:nvPr/>
        </p:nvSpPr>
        <p:spPr>
          <a:xfrm>
            <a:off x="730816" y="2926080"/>
            <a:ext cx="10698480" cy="338554"/>
          </a:xfrm>
          <a:prstGeom prst="rect">
            <a:avLst/>
          </a:prstGeom>
          <a:noFill/>
        </p:spPr>
        <p:txBody>
          <a:bodyPr wrap="square" lIns="91440" tIns="45720" rIns="91440" bIns="45720" anchor="t">
            <a:spAutoFit/>
          </a:bodyPr>
          <a:lstStyle/>
          <a:p>
            <a:pPr algn="ctr"/>
            <a:r>
              <a:rPr lang="en-US" sz="1600">
                <a:solidFill>
                  <a:srgbClr val="555555"/>
                </a:solidFill>
              </a:rPr>
              <a:t>EPPS 6323 — Knowledge Mining</a:t>
            </a:r>
            <a:endParaRPr lang="en-US"/>
          </a:p>
        </p:txBody>
      </p:sp>
      <p:sp>
        <p:nvSpPr>
          <p:cNvPr id="6" name="TextBox 5"/>
          <p:cNvSpPr txBox="1"/>
          <p:nvPr/>
        </p:nvSpPr>
        <p:spPr>
          <a:xfrm>
            <a:off x="731520" y="3246120"/>
            <a:ext cx="10698480" cy="365760"/>
          </a:xfrm>
          <a:prstGeom prst="rect">
            <a:avLst/>
          </a:prstGeom>
          <a:noFill/>
        </p:spPr>
        <p:txBody>
          <a:bodyPr wrap="square">
            <a:spAutoFit/>
          </a:bodyPr>
          <a:lstStyle/>
          <a:p>
            <a:pPr algn="ctr"/>
            <a:r>
              <a:rPr sz="1500" b="0" i="0">
                <a:solidFill>
                  <a:srgbClr val="555555"/>
                </a:solidFill>
              </a:rPr>
              <a:t>Spring 2026</a:t>
            </a:r>
          </a:p>
        </p:txBody>
      </p:sp>
      <p:sp>
        <p:nvSpPr>
          <p:cNvPr id="7" name="Rectangle 6"/>
          <p:cNvSpPr/>
          <p:nvPr/>
        </p:nvSpPr>
        <p:spPr>
          <a:xfrm>
            <a:off x="0" y="6492240"/>
            <a:ext cx="12188952" cy="36576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C47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64592"/>
            <a:ext cx="11247120" cy="731520"/>
          </a:xfrm>
          <a:prstGeom prst="rect">
            <a:avLst/>
          </a:prstGeom>
          <a:noFill/>
        </p:spPr>
        <p:txBody>
          <a:bodyPr wrap="square">
            <a:spAutoFit/>
          </a:bodyPr>
          <a:lstStyle/>
          <a:p>
            <a:pPr algn="l"/>
            <a:r>
              <a:rPr sz="3400" b="1" i="0">
                <a:solidFill>
                  <a:srgbClr val="1A1A1A"/>
                </a:solidFill>
              </a:rPr>
              <a:t>Introduction</a:t>
            </a:r>
          </a:p>
        </p:txBody>
      </p:sp>
      <p:sp>
        <p:nvSpPr>
          <p:cNvPr id="4" name="TextBox 3"/>
          <p:cNvSpPr txBox="1"/>
          <p:nvPr/>
        </p:nvSpPr>
        <p:spPr>
          <a:xfrm>
            <a:off x="640080" y="1325880"/>
            <a:ext cx="10881360" cy="1138773"/>
          </a:xfrm>
          <a:prstGeom prst="rect">
            <a:avLst/>
          </a:prstGeom>
          <a:noFill/>
        </p:spPr>
        <p:txBody>
          <a:bodyPr wrap="square" lIns="91440" tIns="45720" rIns="91440" bIns="45720" anchor="t">
            <a:spAutoFit/>
          </a:bodyPr>
          <a:lstStyle/>
          <a:p>
            <a:r>
              <a:rPr sz="1700" b="0" i="0" dirty="0">
                <a:solidFill>
                  <a:srgbClr val="1A1A1A"/>
                </a:solidFill>
              </a:rPr>
              <a:t>State voting laws have been among the most contested areas of American politics, particularly following the 2020 presidential election. Debates over voter ID, mail ballot procedures, early voting, and certification have split sharply along partisan lines</a:t>
            </a:r>
            <a:r>
              <a:rPr lang="en-US" sz="1700" dirty="0">
                <a:solidFill>
                  <a:srgbClr val="1A1A1A"/>
                </a:solidFill>
              </a:rPr>
              <a:t>. However </a:t>
            </a:r>
            <a:r>
              <a:rPr sz="1700" b="0" i="0" dirty="0">
                <a:solidFill>
                  <a:srgbClr val="1A1A1A"/>
                </a:solidFill>
              </a:rPr>
              <a:t>most comparative analyses rely on manual review of a limited number of high-profile bills, making systematic cross-state characterization difficult.</a:t>
            </a:r>
          </a:p>
        </p:txBody>
      </p:sp>
      <p:sp>
        <p:nvSpPr>
          <p:cNvPr id="5" name="Rectangle 4"/>
          <p:cNvSpPr/>
          <p:nvPr/>
        </p:nvSpPr>
        <p:spPr>
          <a:xfrm>
            <a:off x="457200" y="2926080"/>
            <a:ext cx="11274552" cy="18288"/>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3063240"/>
            <a:ext cx="10881360" cy="411480"/>
          </a:xfrm>
          <a:prstGeom prst="rect">
            <a:avLst/>
          </a:prstGeom>
          <a:noFill/>
        </p:spPr>
        <p:txBody>
          <a:bodyPr wrap="square">
            <a:spAutoFit/>
          </a:bodyPr>
          <a:lstStyle/>
          <a:p>
            <a:pPr algn="l"/>
            <a:r>
              <a:rPr sz="1600" b="1" i="0">
                <a:solidFill>
                  <a:srgbClr val="2C4770"/>
                </a:solidFill>
              </a:rPr>
              <a:t>This project applies computational text analysis to address three questions:</a:t>
            </a:r>
          </a:p>
        </p:txBody>
      </p:sp>
      <p:sp>
        <p:nvSpPr>
          <p:cNvPr id="7" name="TextBox 6"/>
          <p:cNvSpPr txBox="1"/>
          <p:nvPr/>
        </p:nvSpPr>
        <p:spPr>
          <a:xfrm>
            <a:off x="640080" y="3566160"/>
            <a:ext cx="1371600" cy="502920"/>
          </a:xfrm>
          <a:prstGeom prst="rect">
            <a:avLst/>
          </a:prstGeom>
          <a:noFill/>
        </p:spPr>
        <p:txBody>
          <a:bodyPr wrap="square">
            <a:spAutoFit/>
          </a:bodyPr>
          <a:lstStyle/>
          <a:p>
            <a:pPr algn="l"/>
            <a:r>
              <a:rPr sz="1500" b="1" i="0">
                <a:solidFill>
                  <a:srgbClr val="2C4770"/>
                </a:solidFill>
              </a:rPr>
              <a:t>Language</a:t>
            </a:r>
          </a:p>
        </p:txBody>
      </p:sp>
      <p:sp>
        <p:nvSpPr>
          <p:cNvPr id="8" name="TextBox 7"/>
          <p:cNvSpPr txBox="1"/>
          <p:nvPr/>
        </p:nvSpPr>
        <p:spPr>
          <a:xfrm>
            <a:off x="1920240" y="3566160"/>
            <a:ext cx="9509760" cy="502920"/>
          </a:xfrm>
          <a:prstGeom prst="rect">
            <a:avLst/>
          </a:prstGeom>
          <a:noFill/>
        </p:spPr>
        <p:txBody>
          <a:bodyPr wrap="square">
            <a:spAutoFit/>
          </a:bodyPr>
          <a:lstStyle/>
          <a:p>
            <a:pPr algn="l"/>
            <a:r>
              <a:rPr sz="1500" b="0" i="0">
                <a:solidFill>
                  <a:srgbClr val="1A1A1A"/>
                </a:solidFill>
              </a:rPr>
              <a:t>What vocabulary most distinctively characterizes voting bills under each type of political control?</a:t>
            </a:r>
          </a:p>
        </p:txBody>
      </p:sp>
      <p:sp>
        <p:nvSpPr>
          <p:cNvPr id="9" name="TextBox 8"/>
          <p:cNvSpPr txBox="1"/>
          <p:nvPr/>
        </p:nvSpPr>
        <p:spPr>
          <a:xfrm>
            <a:off x="640080" y="4315968"/>
            <a:ext cx="1371600" cy="502920"/>
          </a:xfrm>
          <a:prstGeom prst="rect">
            <a:avLst/>
          </a:prstGeom>
          <a:noFill/>
        </p:spPr>
        <p:txBody>
          <a:bodyPr wrap="square">
            <a:spAutoFit/>
          </a:bodyPr>
          <a:lstStyle/>
          <a:p>
            <a:pPr algn="l"/>
            <a:r>
              <a:rPr sz="1500" b="1" i="0">
                <a:solidFill>
                  <a:srgbClr val="2C4770"/>
                </a:solidFill>
              </a:rPr>
              <a:t>Themes</a:t>
            </a:r>
          </a:p>
        </p:txBody>
      </p:sp>
      <p:sp>
        <p:nvSpPr>
          <p:cNvPr id="10" name="TextBox 9"/>
          <p:cNvSpPr txBox="1"/>
          <p:nvPr/>
        </p:nvSpPr>
        <p:spPr>
          <a:xfrm>
            <a:off x="1920240" y="4315968"/>
            <a:ext cx="9509760" cy="502920"/>
          </a:xfrm>
          <a:prstGeom prst="rect">
            <a:avLst/>
          </a:prstGeom>
          <a:noFill/>
        </p:spPr>
        <p:txBody>
          <a:bodyPr wrap="square">
            <a:spAutoFit/>
          </a:bodyPr>
          <a:lstStyle/>
          <a:p>
            <a:pPr algn="l"/>
            <a:r>
              <a:rPr sz="1500" b="0" i="0">
                <a:solidFill>
                  <a:srgbClr val="1A1A1A"/>
                </a:solidFill>
              </a:rPr>
              <a:t>Do bills in Republican-, Democratic-, and divided-control states cluster into different policy domains?</a:t>
            </a:r>
          </a:p>
        </p:txBody>
      </p:sp>
      <p:sp>
        <p:nvSpPr>
          <p:cNvPr id="11" name="TextBox 10"/>
          <p:cNvSpPr txBox="1"/>
          <p:nvPr/>
        </p:nvSpPr>
        <p:spPr>
          <a:xfrm>
            <a:off x="640080" y="5065776"/>
            <a:ext cx="1371600" cy="502920"/>
          </a:xfrm>
          <a:prstGeom prst="rect">
            <a:avLst/>
          </a:prstGeom>
          <a:noFill/>
        </p:spPr>
        <p:txBody>
          <a:bodyPr wrap="square">
            <a:spAutoFit/>
          </a:bodyPr>
          <a:lstStyle/>
          <a:p>
            <a:pPr algn="l"/>
            <a:r>
              <a:rPr sz="1500" b="1" i="0">
                <a:solidFill>
                  <a:srgbClr val="2C4770"/>
                </a:solidFill>
              </a:rPr>
              <a:t>Direction</a:t>
            </a:r>
          </a:p>
        </p:txBody>
      </p:sp>
      <p:sp>
        <p:nvSpPr>
          <p:cNvPr id="12" name="TextBox 11"/>
          <p:cNvSpPr txBox="1"/>
          <p:nvPr/>
        </p:nvSpPr>
        <p:spPr>
          <a:xfrm>
            <a:off x="1920240" y="5065776"/>
            <a:ext cx="9509760" cy="502920"/>
          </a:xfrm>
          <a:prstGeom prst="rect">
            <a:avLst/>
          </a:prstGeom>
          <a:noFill/>
        </p:spPr>
        <p:txBody>
          <a:bodyPr wrap="square">
            <a:spAutoFit/>
          </a:bodyPr>
          <a:lstStyle/>
          <a:p>
            <a:pPr algn="l"/>
            <a:r>
              <a:rPr sz="1500" b="0" i="0">
                <a:solidFill>
                  <a:srgbClr val="1A1A1A"/>
                </a:solidFill>
              </a:rPr>
              <a:t>Are bills primarily expanding voter access, restricting it, or making neutral procedural changes — and does this vary by political control?</a:t>
            </a:r>
          </a:p>
        </p:txBody>
      </p:sp>
      <p:sp>
        <p:nvSpPr>
          <p:cNvPr id="13" name="Rectangle 12"/>
          <p:cNvSpPr/>
          <p:nvPr/>
        </p:nvSpPr>
        <p:spPr>
          <a:xfrm>
            <a:off x="457200" y="5870448"/>
            <a:ext cx="11274552" cy="18288"/>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5989320"/>
            <a:ext cx="10881360" cy="548640"/>
          </a:xfrm>
          <a:prstGeom prst="rect">
            <a:avLst/>
          </a:prstGeom>
          <a:noFill/>
        </p:spPr>
        <p:txBody>
          <a:bodyPr wrap="square">
            <a:spAutoFit/>
          </a:bodyPr>
          <a:lstStyle/>
          <a:p>
            <a:pPr algn="l"/>
            <a:r>
              <a:rPr sz="1300" b="0" i="1">
                <a:solidFill>
                  <a:srgbClr val="555555"/>
                </a:solidFill>
              </a:rPr>
              <a:t>Political control operationalized as the legislative trifecta: same party controls both legislative chambers and the governorship  (Unified Republican | Unified Democratic | Divided Government)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C47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64592"/>
            <a:ext cx="11247120" cy="731520"/>
          </a:xfrm>
          <a:prstGeom prst="rect">
            <a:avLst/>
          </a:prstGeom>
          <a:noFill/>
        </p:spPr>
        <p:txBody>
          <a:bodyPr wrap="square">
            <a:spAutoFit/>
          </a:bodyPr>
          <a:lstStyle/>
          <a:p>
            <a:pPr algn="l"/>
            <a:r>
              <a:rPr sz="3400" b="1" i="0">
                <a:solidFill>
                  <a:srgbClr val="1A1A1A"/>
                </a:solidFill>
              </a:rPr>
              <a:t>Research Question &amp; Hypotheses</a:t>
            </a:r>
          </a:p>
        </p:txBody>
      </p:sp>
      <p:sp>
        <p:nvSpPr>
          <p:cNvPr id="4" name="TextBox 3"/>
          <p:cNvSpPr txBox="1"/>
          <p:nvPr/>
        </p:nvSpPr>
        <p:spPr>
          <a:xfrm>
            <a:off x="640080" y="1325880"/>
            <a:ext cx="10881360" cy="914400"/>
          </a:xfrm>
          <a:prstGeom prst="rect">
            <a:avLst/>
          </a:prstGeom>
          <a:noFill/>
        </p:spPr>
        <p:txBody>
          <a:bodyPr wrap="square">
            <a:spAutoFit/>
          </a:bodyPr>
          <a:lstStyle/>
          <a:p>
            <a:pPr algn="l"/>
            <a:r>
              <a:rPr sz="2400" b="1" i="0">
                <a:solidFill>
                  <a:srgbClr val="1A1A1A"/>
                </a:solidFill>
              </a:rPr>
              <a:t>Do voting bills differ systematically in language and direction depending on which party controls the legislature and governorship?</a:t>
            </a:r>
          </a:p>
        </p:txBody>
      </p:sp>
      <p:sp>
        <p:nvSpPr>
          <p:cNvPr id="5" name="Rectangle 4"/>
          <p:cNvSpPr/>
          <p:nvPr/>
        </p:nvSpPr>
        <p:spPr>
          <a:xfrm>
            <a:off x="638072" y="2347273"/>
            <a:ext cx="10360140" cy="5851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2530153"/>
            <a:ext cx="10368887" cy="128016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633472"/>
            <a:ext cx="640080" cy="411480"/>
          </a:xfrm>
          <a:prstGeom prst="rect">
            <a:avLst/>
          </a:prstGeom>
          <a:noFill/>
        </p:spPr>
        <p:txBody>
          <a:bodyPr wrap="square">
            <a:spAutoFit/>
          </a:bodyPr>
          <a:lstStyle/>
          <a:p>
            <a:pPr algn="l"/>
            <a:r>
              <a:rPr sz="1500" b="1" i="0">
                <a:solidFill>
                  <a:srgbClr val="2C4770"/>
                </a:solidFill>
              </a:rPr>
              <a:t>H1</a:t>
            </a:r>
          </a:p>
        </p:txBody>
      </p:sp>
      <p:sp>
        <p:nvSpPr>
          <p:cNvPr id="8" name="TextBox 7"/>
          <p:cNvSpPr txBox="1"/>
          <p:nvPr/>
        </p:nvSpPr>
        <p:spPr>
          <a:xfrm>
            <a:off x="1463040" y="2633472"/>
            <a:ext cx="9875520" cy="615553"/>
          </a:xfrm>
          <a:prstGeom prst="rect">
            <a:avLst/>
          </a:prstGeom>
          <a:noFill/>
        </p:spPr>
        <p:txBody>
          <a:bodyPr wrap="square" lIns="91440" tIns="45720" rIns="91440" bIns="45720" anchor="t">
            <a:spAutoFit/>
          </a:bodyPr>
          <a:lstStyle/>
          <a:p>
            <a:r>
              <a:rPr sz="1700" b="0" i="0">
                <a:solidFill>
                  <a:srgbClr val="1A1A1A"/>
                </a:solidFill>
              </a:rPr>
              <a:t>Bill language will differ systematically along ideological </a:t>
            </a:r>
            <a:r>
              <a:rPr lang="en-US" sz="1700">
                <a:solidFill>
                  <a:srgbClr val="1A1A1A"/>
                </a:solidFill>
              </a:rPr>
              <a:t>lines, states</a:t>
            </a:r>
            <a:r>
              <a:rPr sz="1700" b="0" i="0">
                <a:solidFill>
                  <a:srgbClr val="1A1A1A"/>
                </a:solidFill>
              </a:rPr>
              <a:t> under different partisan control will use </a:t>
            </a:r>
            <a:r>
              <a:rPr sz="1700" b="0" i="0" dirty="0">
                <a:solidFill>
                  <a:srgbClr val="1A1A1A"/>
                </a:solidFill>
              </a:rPr>
              <a:t>measurably distinct vocabulary when addressing voting and election procedures.</a:t>
            </a:r>
          </a:p>
        </p:txBody>
      </p:sp>
      <p:sp>
        <p:nvSpPr>
          <p:cNvPr id="9" name="Rectangle 8"/>
          <p:cNvSpPr/>
          <p:nvPr/>
        </p:nvSpPr>
        <p:spPr>
          <a:xfrm>
            <a:off x="640080" y="3917305"/>
            <a:ext cx="10368887" cy="128016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4050791"/>
            <a:ext cx="640080" cy="411480"/>
          </a:xfrm>
          <a:prstGeom prst="rect">
            <a:avLst/>
          </a:prstGeom>
          <a:noFill/>
        </p:spPr>
        <p:txBody>
          <a:bodyPr wrap="square">
            <a:spAutoFit/>
          </a:bodyPr>
          <a:lstStyle/>
          <a:p>
            <a:pPr algn="l"/>
            <a:r>
              <a:rPr sz="1500" b="1" i="0">
                <a:solidFill>
                  <a:srgbClr val="B0281A"/>
                </a:solidFill>
              </a:rPr>
              <a:t>H2</a:t>
            </a:r>
          </a:p>
        </p:txBody>
      </p:sp>
      <p:sp>
        <p:nvSpPr>
          <p:cNvPr id="11" name="TextBox 10"/>
          <p:cNvSpPr txBox="1"/>
          <p:nvPr/>
        </p:nvSpPr>
        <p:spPr>
          <a:xfrm>
            <a:off x="1463040" y="4050791"/>
            <a:ext cx="9875520" cy="1005840"/>
          </a:xfrm>
          <a:prstGeom prst="rect">
            <a:avLst/>
          </a:prstGeom>
          <a:noFill/>
        </p:spPr>
        <p:txBody>
          <a:bodyPr wrap="square">
            <a:spAutoFit/>
          </a:bodyPr>
          <a:lstStyle/>
          <a:p>
            <a:pPr algn="l"/>
            <a:r>
              <a:rPr sz="1700" b="0" i="0">
                <a:solidFill>
                  <a:srgbClr val="1A1A1A"/>
                </a:solidFill>
              </a:rPr>
              <a:t>Bills introduced in Republican-controlled states will be more restrictive in language and direction than bills introduced in Democratic-controlled or divided-government states.</a:t>
            </a:r>
          </a:p>
        </p:txBody>
      </p:sp>
      <p:sp>
        <p:nvSpPr>
          <p:cNvPr id="12" name="Rectangle 11"/>
          <p:cNvSpPr/>
          <p:nvPr/>
        </p:nvSpPr>
        <p:spPr>
          <a:xfrm>
            <a:off x="457200" y="5440680"/>
            <a:ext cx="11274552" cy="18288"/>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5577840"/>
            <a:ext cx="10881360" cy="457200"/>
          </a:xfrm>
          <a:prstGeom prst="rect">
            <a:avLst/>
          </a:prstGeom>
          <a:noFill/>
        </p:spPr>
        <p:txBody>
          <a:bodyPr wrap="square">
            <a:spAutoFit/>
          </a:bodyPr>
          <a:lstStyle/>
          <a:p>
            <a:pPr algn="l"/>
            <a:r>
              <a:rPr sz="1400" b="0" i="1">
                <a:solidFill>
                  <a:srgbClr val="555555"/>
                </a:solidFill>
              </a:rPr>
              <a:t>Political control operationalized as trifecta:  Unified Republican  |  Unified Democratic  |  Divided Government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C47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64592"/>
            <a:ext cx="11247120" cy="731520"/>
          </a:xfrm>
          <a:prstGeom prst="rect">
            <a:avLst/>
          </a:prstGeom>
          <a:noFill/>
        </p:spPr>
        <p:txBody>
          <a:bodyPr wrap="square">
            <a:spAutoFit/>
          </a:bodyPr>
          <a:lstStyle/>
          <a:p>
            <a:pPr algn="l"/>
            <a:r>
              <a:rPr sz="3400" b="1" i="0">
                <a:solidFill>
                  <a:srgbClr val="1A1A1A"/>
                </a:solidFill>
              </a:rPr>
              <a:t>Data: Collection &amp; Corpus</a:t>
            </a:r>
          </a:p>
        </p:txBody>
      </p:sp>
      <p:sp>
        <p:nvSpPr>
          <p:cNvPr id="4" name="TextBox 3"/>
          <p:cNvSpPr txBox="1"/>
          <p:nvPr/>
        </p:nvSpPr>
        <p:spPr>
          <a:xfrm>
            <a:off x="457200" y="868680"/>
            <a:ext cx="11247120" cy="411480"/>
          </a:xfrm>
          <a:prstGeom prst="rect">
            <a:avLst/>
          </a:prstGeom>
          <a:noFill/>
        </p:spPr>
        <p:txBody>
          <a:bodyPr wrap="square">
            <a:spAutoFit/>
          </a:bodyPr>
          <a:lstStyle/>
          <a:p>
            <a:pPr algn="l"/>
            <a:r>
              <a:rPr sz="1800" b="0" i="0">
                <a:solidFill>
                  <a:srgbClr val="555555"/>
                </a:solidFill>
              </a:rPr>
              <a:t>State voting bills from the LegiScan public legislative database, 2025–2026 sessions</a:t>
            </a:r>
          </a:p>
        </p:txBody>
      </p:sp>
      <p:sp>
        <p:nvSpPr>
          <p:cNvPr id="5" name="TextBox 4"/>
          <p:cNvSpPr txBox="1"/>
          <p:nvPr/>
        </p:nvSpPr>
        <p:spPr>
          <a:xfrm>
            <a:off x="548640" y="1371600"/>
            <a:ext cx="2194560" cy="640080"/>
          </a:xfrm>
          <a:prstGeom prst="rect">
            <a:avLst/>
          </a:prstGeom>
          <a:noFill/>
        </p:spPr>
        <p:txBody>
          <a:bodyPr wrap="square">
            <a:spAutoFit/>
          </a:bodyPr>
          <a:lstStyle/>
          <a:p>
            <a:pPr algn="ctr"/>
            <a:r>
              <a:rPr sz="3800" b="1" i="0">
                <a:solidFill>
                  <a:srgbClr val="2C4770"/>
                </a:solidFill>
              </a:rPr>
              <a:t>83</a:t>
            </a:r>
          </a:p>
        </p:txBody>
      </p:sp>
      <p:sp>
        <p:nvSpPr>
          <p:cNvPr id="6" name="TextBox 5"/>
          <p:cNvSpPr txBox="1"/>
          <p:nvPr/>
        </p:nvSpPr>
        <p:spPr>
          <a:xfrm>
            <a:off x="548640" y="1965960"/>
            <a:ext cx="2194560" cy="411480"/>
          </a:xfrm>
          <a:prstGeom prst="rect">
            <a:avLst/>
          </a:prstGeom>
          <a:noFill/>
        </p:spPr>
        <p:txBody>
          <a:bodyPr wrap="square">
            <a:spAutoFit/>
          </a:bodyPr>
          <a:lstStyle/>
          <a:p>
            <a:pPr algn="ctr"/>
            <a:r>
              <a:rPr sz="1300" b="0" i="0">
                <a:solidFill>
                  <a:srgbClr val="555555"/>
                </a:solidFill>
              </a:rPr>
              <a:t>Bills collected</a:t>
            </a:r>
          </a:p>
        </p:txBody>
      </p:sp>
      <p:sp>
        <p:nvSpPr>
          <p:cNvPr id="7" name="TextBox 6"/>
          <p:cNvSpPr txBox="1"/>
          <p:nvPr/>
        </p:nvSpPr>
        <p:spPr>
          <a:xfrm>
            <a:off x="3017520" y="1371600"/>
            <a:ext cx="2194560" cy="640080"/>
          </a:xfrm>
          <a:prstGeom prst="rect">
            <a:avLst/>
          </a:prstGeom>
          <a:noFill/>
        </p:spPr>
        <p:txBody>
          <a:bodyPr wrap="square">
            <a:spAutoFit/>
          </a:bodyPr>
          <a:lstStyle/>
          <a:p>
            <a:pPr algn="ctr"/>
            <a:r>
              <a:rPr sz="3800" b="1" i="0">
                <a:solidFill>
                  <a:srgbClr val="2C4770"/>
                </a:solidFill>
              </a:rPr>
              <a:t>24</a:t>
            </a:r>
          </a:p>
        </p:txBody>
      </p:sp>
      <p:sp>
        <p:nvSpPr>
          <p:cNvPr id="8" name="TextBox 7"/>
          <p:cNvSpPr txBox="1"/>
          <p:nvPr/>
        </p:nvSpPr>
        <p:spPr>
          <a:xfrm>
            <a:off x="3017520" y="1965960"/>
            <a:ext cx="2194560" cy="411480"/>
          </a:xfrm>
          <a:prstGeom prst="rect">
            <a:avLst/>
          </a:prstGeom>
          <a:noFill/>
        </p:spPr>
        <p:txBody>
          <a:bodyPr wrap="square">
            <a:spAutoFit/>
          </a:bodyPr>
          <a:lstStyle/>
          <a:p>
            <a:pPr algn="ctr"/>
            <a:r>
              <a:rPr sz="1300" b="0" i="0">
                <a:solidFill>
                  <a:srgbClr val="555555"/>
                </a:solidFill>
              </a:rPr>
              <a:t>States</a:t>
            </a:r>
          </a:p>
        </p:txBody>
      </p:sp>
      <p:sp>
        <p:nvSpPr>
          <p:cNvPr id="9" name="TextBox 8"/>
          <p:cNvSpPr txBox="1"/>
          <p:nvPr/>
        </p:nvSpPr>
        <p:spPr>
          <a:xfrm>
            <a:off x="5394960" y="1371600"/>
            <a:ext cx="2194560" cy="640080"/>
          </a:xfrm>
          <a:prstGeom prst="rect">
            <a:avLst/>
          </a:prstGeom>
          <a:noFill/>
        </p:spPr>
        <p:txBody>
          <a:bodyPr wrap="square">
            <a:spAutoFit/>
          </a:bodyPr>
          <a:lstStyle/>
          <a:p>
            <a:pPr algn="ctr"/>
            <a:r>
              <a:rPr sz="3800" b="1" i="0">
                <a:solidFill>
                  <a:srgbClr val="2C4770"/>
                </a:solidFill>
              </a:rPr>
              <a:t>51</a:t>
            </a:r>
          </a:p>
        </p:txBody>
      </p:sp>
      <p:sp>
        <p:nvSpPr>
          <p:cNvPr id="10" name="TextBox 9"/>
          <p:cNvSpPr txBox="1"/>
          <p:nvPr/>
        </p:nvSpPr>
        <p:spPr>
          <a:xfrm>
            <a:off x="5394960" y="1965960"/>
            <a:ext cx="2194560" cy="411480"/>
          </a:xfrm>
          <a:prstGeom prst="rect">
            <a:avLst/>
          </a:prstGeom>
          <a:noFill/>
        </p:spPr>
        <p:txBody>
          <a:bodyPr wrap="square">
            <a:spAutoFit/>
          </a:bodyPr>
          <a:lstStyle/>
          <a:p>
            <a:pPr algn="ctr"/>
            <a:r>
              <a:rPr sz="1300" b="0" i="0">
                <a:solidFill>
                  <a:srgbClr val="555555"/>
                </a:solidFill>
              </a:rPr>
              <a:t>Usable after extraction</a:t>
            </a:r>
          </a:p>
        </p:txBody>
      </p:sp>
      <p:sp>
        <p:nvSpPr>
          <p:cNvPr id="11" name="TextBox 10"/>
          <p:cNvSpPr txBox="1"/>
          <p:nvPr/>
        </p:nvSpPr>
        <p:spPr>
          <a:xfrm>
            <a:off x="8229600" y="1371600"/>
            <a:ext cx="2194560" cy="640080"/>
          </a:xfrm>
          <a:prstGeom prst="rect">
            <a:avLst/>
          </a:prstGeom>
          <a:noFill/>
        </p:spPr>
        <p:txBody>
          <a:bodyPr wrap="square">
            <a:spAutoFit/>
          </a:bodyPr>
          <a:lstStyle/>
          <a:p>
            <a:pPr algn="ctr"/>
            <a:r>
              <a:rPr sz="3800" b="1" i="0">
                <a:solidFill>
                  <a:srgbClr val="555555"/>
                </a:solidFill>
              </a:rPr>
              <a:t>32</a:t>
            </a:r>
          </a:p>
        </p:txBody>
      </p:sp>
      <p:sp>
        <p:nvSpPr>
          <p:cNvPr id="12" name="TextBox 11"/>
          <p:cNvSpPr txBox="1"/>
          <p:nvPr/>
        </p:nvSpPr>
        <p:spPr>
          <a:xfrm>
            <a:off x="8229600" y="1965960"/>
            <a:ext cx="2194560" cy="411480"/>
          </a:xfrm>
          <a:prstGeom prst="rect">
            <a:avLst/>
          </a:prstGeom>
          <a:noFill/>
        </p:spPr>
        <p:txBody>
          <a:bodyPr wrap="square">
            <a:spAutoFit/>
          </a:bodyPr>
          <a:lstStyle/>
          <a:p>
            <a:pPr algn="ctr"/>
            <a:r>
              <a:rPr sz="1300" b="0" i="0">
                <a:solidFill>
                  <a:srgbClr val="555555"/>
                </a:solidFill>
              </a:rPr>
              <a:t>Failed extraction</a:t>
            </a:r>
          </a:p>
        </p:txBody>
      </p:sp>
      <p:sp>
        <p:nvSpPr>
          <p:cNvPr id="13" name="TextBox 12"/>
          <p:cNvSpPr txBox="1"/>
          <p:nvPr/>
        </p:nvSpPr>
        <p:spPr>
          <a:xfrm>
            <a:off x="9961929" y="1371600"/>
            <a:ext cx="2194560" cy="640080"/>
          </a:xfrm>
          <a:prstGeom prst="rect">
            <a:avLst/>
          </a:prstGeom>
          <a:noFill/>
        </p:spPr>
        <p:txBody>
          <a:bodyPr wrap="square">
            <a:spAutoFit/>
          </a:bodyPr>
          <a:lstStyle/>
          <a:p>
            <a:pPr algn="ctr"/>
            <a:r>
              <a:rPr sz="3800" b="1" i="0">
                <a:solidFill>
                  <a:srgbClr val="2C4770"/>
                </a:solidFill>
              </a:rPr>
              <a:t>2025–26</a:t>
            </a:r>
          </a:p>
        </p:txBody>
      </p:sp>
      <p:sp>
        <p:nvSpPr>
          <p:cNvPr id="14" name="TextBox 13"/>
          <p:cNvSpPr txBox="1"/>
          <p:nvPr/>
        </p:nvSpPr>
        <p:spPr>
          <a:xfrm>
            <a:off x="10424160" y="1965960"/>
            <a:ext cx="2194560" cy="411480"/>
          </a:xfrm>
          <a:prstGeom prst="rect">
            <a:avLst/>
          </a:prstGeom>
          <a:noFill/>
        </p:spPr>
        <p:txBody>
          <a:bodyPr wrap="square">
            <a:spAutoFit/>
          </a:bodyPr>
          <a:lstStyle/>
          <a:p>
            <a:pPr algn="ctr"/>
            <a:r>
              <a:rPr sz="1300" b="0" i="0">
                <a:solidFill>
                  <a:srgbClr val="555555"/>
                </a:solidFill>
              </a:rPr>
              <a:t>Sessions</a:t>
            </a:r>
          </a:p>
        </p:txBody>
      </p:sp>
      <p:sp>
        <p:nvSpPr>
          <p:cNvPr id="15" name="Rectangle 14"/>
          <p:cNvSpPr/>
          <p:nvPr/>
        </p:nvSpPr>
        <p:spPr>
          <a:xfrm>
            <a:off x="457200" y="2606040"/>
            <a:ext cx="11274552" cy="18288"/>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48640" y="2743200"/>
            <a:ext cx="3657600" cy="365760"/>
          </a:xfrm>
          <a:prstGeom prst="rect">
            <a:avLst/>
          </a:prstGeom>
          <a:noFill/>
        </p:spPr>
        <p:txBody>
          <a:bodyPr wrap="square">
            <a:spAutoFit/>
          </a:bodyPr>
          <a:lstStyle/>
          <a:p>
            <a:pPr algn="l"/>
            <a:r>
              <a:rPr sz="1500" b="1" i="0">
                <a:solidFill>
                  <a:srgbClr val="2C4770"/>
                </a:solidFill>
              </a:rPr>
              <a:t>Bill Collection</a:t>
            </a:r>
          </a:p>
        </p:txBody>
      </p:sp>
      <p:sp>
        <p:nvSpPr>
          <p:cNvPr id="17" name="TextBox 16"/>
          <p:cNvSpPr txBox="1"/>
          <p:nvPr/>
        </p:nvSpPr>
        <p:spPr>
          <a:xfrm>
            <a:off x="4160520" y="2788920"/>
            <a:ext cx="1920240" cy="320040"/>
          </a:xfrm>
          <a:prstGeom prst="rect">
            <a:avLst/>
          </a:prstGeom>
          <a:noFill/>
        </p:spPr>
        <p:txBody>
          <a:bodyPr wrap="square">
            <a:spAutoFit/>
          </a:bodyPr>
          <a:lstStyle/>
          <a:p>
            <a:pPr algn="l"/>
            <a:r>
              <a:rPr sz="1200" b="0" i="1">
                <a:solidFill>
                  <a:srgbClr val="555555"/>
                </a:solidFill>
              </a:rPr>
              <a:t>httr2  ·  LegiScan API</a:t>
            </a:r>
          </a:p>
        </p:txBody>
      </p:sp>
      <p:sp>
        <p:nvSpPr>
          <p:cNvPr id="18" name="TextBox 17"/>
          <p:cNvSpPr txBox="1"/>
          <p:nvPr/>
        </p:nvSpPr>
        <p:spPr>
          <a:xfrm>
            <a:off x="548640" y="3154680"/>
            <a:ext cx="5303520" cy="1463040"/>
          </a:xfrm>
          <a:prstGeom prst="rect">
            <a:avLst/>
          </a:prstGeom>
          <a:noFill/>
        </p:spPr>
        <p:txBody>
          <a:bodyPr wrap="square">
            <a:spAutoFit/>
          </a:bodyPr>
          <a:lstStyle/>
          <a:p>
            <a:pPr algn="l"/>
            <a:r>
              <a:rPr sz="1400" b="0" i="0">
                <a:solidFill>
                  <a:srgbClr val="1A1A1A"/>
                </a:solidFill>
              </a:rPr>
              <a:t>Retrieved via LegiScan getBill API in two rounds. Round 1: 50 bills with available PDFs. Round 2: 33 additional bills from underrepresented states (IL, CO, CT, MD for Democratic trifecta; PA, WI, NC, NV for divided government) to improve partisan and geographic balance.</a:t>
            </a:r>
          </a:p>
        </p:txBody>
      </p:sp>
      <p:sp>
        <p:nvSpPr>
          <p:cNvPr id="19" name="TextBox 18"/>
          <p:cNvSpPr txBox="1"/>
          <p:nvPr/>
        </p:nvSpPr>
        <p:spPr>
          <a:xfrm>
            <a:off x="6309360" y="2743200"/>
            <a:ext cx="5486400" cy="365760"/>
          </a:xfrm>
          <a:prstGeom prst="rect">
            <a:avLst/>
          </a:prstGeom>
          <a:noFill/>
        </p:spPr>
        <p:txBody>
          <a:bodyPr wrap="square">
            <a:spAutoFit/>
          </a:bodyPr>
          <a:lstStyle/>
          <a:p>
            <a:pPr algn="l"/>
            <a:r>
              <a:rPr sz="1500" b="1" i="0">
                <a:solidFill>
                  <a:srgbClr val="2C4770"/>
                </a:solidFill>
              </a:rPr>
              <a:t>Table 1. Corpus composition by trifecta group</a:t>
            </a:r>
          </a:p>
        </p:txBody>
      </p:sp>
      <p:sp>
        <p:nvSpPr>
          <p:cNvPr id="20" name="Rectangle 19"/>
          <p:cNvSpPr/>
          <p:nvPr/>
        </p:nvSpPr>
        <p:spPr>
          <a:xfrm>
            <a:off x="6309360" y="3200400"/>
            <a:ext cx="5715000" cy="420624"/>
          </a:xfrm>
          <a:prstGeom prst="rect">
            <a:avLst/>
          </a:prstGeom>
          <a:solidFill>
            <a:srgbClr val="2C4770"/>
          </a:solidFill>
          <a:ln>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00800" y="3264408"/>
            <a:ext cx="2194560" cy="329184"/>
          </a:xfrm>
          <a:prstGeom prst="rect">
            <a:avLst/>
          </a:prstGeom>
          <a:noFill/>
        </p:spPr>
        <p:txBody>
          <a:bodyPr wrap="square">
            <a:spAutoFit/>
          </a:bodyPr>
          <a:lstStyle/>
          <a:p>
            <a:pPr algn="l"/>
            <a:r>
              <a:rPr sz="1100" b="1" i="0">
                <a:solidFill>
                  <a:srgbClr val="FFFFFF"/>
                </a:solidFill>
              </a:rPr>
              <a:t>Trifecta</a:t>
            </a:r>
          </a:p>
        </p:txBody>
      </p:sp>
      <p:sp>
        <p:nvSpPr>
          <p:cNvPr id="22" name="TextBox 21"/>
          <p:cNvSpPr txBox="1"/>
          <p:nvPr/>
        </p:nvSpPr>
        <p:spPr>
          <a:xfrm>
            <a:off x="8823960" y="3264408"/>
            <a:ext cx="685800" cy="329184"/>
          </a:xfrm>
          <a:prstGeom prst="rect">
            <a:avLst/>
          </a:prstGeom>
          <a:noFill/>
        </p:spPr>
        <p:txBody>
          <a:bodyPr wrap="square">
            <a:spAutoFit/>
          </a:bodyPr>
          <a:lstStyle/>
          <a:p>
            <a:pPr algn="ctr"/>
            <a:r>
              <a:rPr sz="1100" b="1" i="0">
                <a:solidFill>
                  <a:srgbClr val="FFFFFF"/>
                </a:solidFill>
              </a:rPr>
              <a:t>Bills</a:t>
            </a:r>
          </a:p>
        </p:txBody>
      </p:sp>
      <p:sp>
        <p:nvSpPr>
          <p:cNvPr id="23" name="TextBox 22"/>
          <p:cNvSpPr txBox="1"/>
          <p:nvPr/>
        </p:nvSpPr>
        <p:spPr>
          <a:xfrm>
            <a:off x="9738360" y="3264408"/>
            <a:ext cx="2423160" cy="329184"/>
          </a:xfrm>
          <a:prstGeom prst="rect">
            <a:avLst/>
          </a:prstGeom>
          <a:noFill/>
        </p:spPr>
        <p:txBody>
          <a:bodyPr wrap="square">
            <a:spAutoFit/>
          </a:bodyPr>
          <a:lstStyle/>
          <a:p>
            <a:pPr algn="l"/>
            <a:r>
              <a:rPr sz="1100" b="1" i="0">
                <a:solidFill>
                  <a:srgbClr val="FFFFFF"/>
                </a:solidFill>
              </a:rPr>
              <a:t>States</a:t>
            </a:r>
          </a:p>
        </p:txBody>
      </p:sp>
      <p:sp>
        <p:nvSpPr>
          <p:cNvPr id="24" name="Rectangle 23"/>
          <p:cNvSpPr/>
          <p:nvPr/>
        </p:nvSpPr>
        <p:spPr>
          <a:xfrm>
            <a:off x="6309360" y="3621024"/>
            <a:ext cx="5715000" cy="420624"/>
          </a:xfrm>
          <a:prstGeom prst="rect">
            <a:avLst/>
          </a:prstGeom>
          <a:solidFill>
            <a:srgbClr val="FFFFFF"/>
          </a:solidFill>
          <a:ln>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00800" y="3685032"/>
            <a:ext cx="2194560" cy="329184"/>
          </a:xfrm>
          <a:prstGeom prst="rect">
            <a:avLst/>
          </a:prstGeom>
          <a:noFill/>
        </p:spPr>
        <p:txBody>
          <a:bodyPr wrap="square">
            <a:spAutoFit/>
          </a:bodyPr>
          <a:lstStyle/>
          <a:p>
            <a:pPr algn="l"/>
            <a:r>
              <a:rPr sz="1300" b="0" i="0">
                <a:solidFill>
                  <a:srgbClr val="1A1A1A"/>
                </a:solidFill>
              </a:rPr>
              <a:t>Unified Republican</a:t>
            </a:r>
          </a:p>
        </p:txBody>
      </p:sp>
      <p:sp>
        <p:nvSpPr>
          <p:cNvPr id="26" name="TextBox 25"/>
          <p:cNvSpPr txBox="1"/>
          <p:nvPr/>
        </p:nvSpPr>
        <p:spPr>
          <a:xfrm>
            <a:off x="8823960" y="3685032"/>
            <a:ext cx="685800" cy="329184"/>
          </a:xfrm>
          <a:prstGeom prst="rect">
            <a:avLst/>
          </a:prstGeom>
          <a:noFill/>
        </p:spPr>
        <p:txBody>
          <a:bodyPr wrap="square">
            <a:spAutoFit/>
          </a:bodyPr>
          <a:lstStyle/>
          <a:p>
            <a:pPr algn="ctr"/>
            <a:r>
              <a:rPr sz="1300" b="0" i="0">
                <a:solidFill>
                  <a:srgbClr val="1A1A1A"/>
                </a:solidFill>
              </a:rPr>
              <a:t>13</a:t>
            </a:r>
          </a:p>
        </p:txBody>
      </p:sp>
      <p:sp>
        <p:nvSpPr>
          <p:cNvPr id="27" name="TextBox 26"/>
          <p:cNvSpPr txBox="1"/>
          <p:nvPr/>
        </p:nvSpPr>
        <p:spPr>
          <a:xfrm>
            <a:off x="9738360" y="3685032"/>
            <a:ext cx="2423160" cy="329184"/>
          </a:xfrm>
          <a:prstGeom prst="rect">
            <a:avLst/>
          </a:prstGeom>
          <a:noFill/>
        </p:spPr>
        <p:txBody>
          <a:bodyPr wrap="square">
            <a:spAutoFit/>
          </a:bodyPr>
          <a:lstStyle/>
          <a:p>
            <a:pPr algn="l"/>
            <a:r>
              <a:rPr sz="1300" b="0" i="0">
                <a:solidFill>
                  <a:srgbClr val="1A1A1A"/>
                </a:solidFill>
              </a:rPr>
              <a:t>MO, OH, NE, UT, KS, IN, OK</a:t>
            </a:r>
          </a:p>
        </p:txBody>
      </p:sp>
      <p:sp>
        <p:nvSpPr>
          <p:cNvPr id="28" name="Rectangle 27"/>
          <p:cNvSpPr/>
          <p:nvPr/>
        </p:nvSpPr>
        <p:spPr>
          <a:xfrm>
            <a:off x="6309360" y="4041648"/>
            <a:ext cx="5715000" cy="420624"/>
          </a:xfrm>
          <a:prstGeom prst="rect">
            <a:avLst/>
          </a:prstGeom>
          <a:solidFill>
            <a:srgbClr val="F5F5F5"/>
          </a:solidFill>
          <a:ln>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00800" y="4105656"/>
            <a:ext cx="2194560" cy="329184"/>
          </a:xfrm>
          <a:prstGeom prst="rect">
            <a:avLst/>
          </a:prstGeom>
          <a:noFill/>
        </p:spPr>
        <p:txBody>
          <a:bodyPr wrap="square">
            <a:spAutoFit/>
          </a:bodyPr>
          <a:lstStyle/>
          <a:p>
            <a:pPr algn="l"/>
            <a:r>
              <a:rPr sz="1300" b="0" i="0">
                <a:solidFill>
                  <a:srgbClr val="1A1A1A"/>
                </a:solidFill>
              </a:rPr>
              <a:t>Unified Democratic</a:t>
            </a:r>
          </a:p>
        </p:txBody>
      </p:sp>
      <p:sp>
        <p:nvSpPr>
          <p:cNvPr id="30" name="TextBox 29"/>
          <p:cNvSpPr txBox="1"/>
          <p:nvPr/>
        </p:nvSpPr>
        <p:spPr>
          <a:xfrm>
            <a:off x="8823960" y="4105656"/>
            <a:ext cx="685800" cy="329184"/>
          </a:xfrm>
          <a:prstGeom prst="rect">
            <a:avLst/>
          </a:prstGeom>
          <a:noFill/>
        </p:spPr>
        <p:txBody>
          <a:bodyPr wrap="square">
            <a:spAutoFit/>
          </a:bodyPr>
          <a:lstStyle/>
          <a:p>
            <a:pPr algn="ctr"/>
            <a:r>
              <a:rPr sz="1300" b="0" i="0">
                <a:solidFill>
                  <a:srgbClr val="1A1A1A"/>
                </a:solidFill>
              </a:rPr>
              <a:t>24</a:t>
            </a:r>
          </a:p>
        </p:txBody>
      </p:sp>
      <p:sp>
        <p:nvSpPr>
          <p:cNvPr id="31" name="TextBox 30"/>
          <p:cNvSpPr txBox="1"/>
          <p:nvPr/>
        </p:nvSpPr>
        <p:spPr>
          <a:xfrm>
            <a:off x="9738360" y="4105656"/>
            <a:ext cx="2423160" cy="329184"/>
          </a:xfrm>
          <a:prstGeom prst="rect">
            <a:avLst/>
          </a:prstGeom>
          <a:noFill/>
        </p:spPr>
        <p:txBody>
          <a:bodyPr wrap="square">
            <a:spAutoFit/>
          </a:bodyPr>
          <a:lstStyle/>
          <a:p>
            <a:pPr algn="l"/>
            <a:r>
              <a:rPr sz="1300" b="0" i="0">
                <a:solidFill>
                  <a:srgbClr val="1A1A1A"/>
                </a:solidFill>
              </a:rPr>
              <a:t>MN, WA, IL, CT, MD, NJ, NM</a:t>
            </a:r>
          </a:p>
        </p:txBody>
      </p:sp>
      <p:sp>
        <p:nvSpPr>
          <p:cNvPr id="32" name="Rectangle 31"/>
          <p:cNvSpPr/>
          <p:nvPr/>
        </p:nvSpPr>
        <p:spPr>
          <a:xfrm>
            <a:off x="6309360" y="4462272"/>
            <a:ext cx="5715000" cy="420624"/>
          </a:xfrm>
          <a:prstGeom prst="rect">
            <a:avLst/>
          </a:prstGeom>
          <a:solidFill>
            <a:srgbClr val="FFFFFF"/>
          </a:solidFill>
          <a:ln>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00800" y="4526280"/>
            <a:ext cx="2194560" cy="329184"/>
          </a:xfrm>
          <a:prstGeom prst="rect">
            <a:avLst/>
          </a:prstGeom>
          <a:noFill/>
        </p:spPr>
        <p:txBody>
          <a:bodyPr wrap="square">
            <a:spAutoFit/>
          </a:bodyPr>
          <a:lstStyle/>
          <a:p>
            <a:pPr algn="l"/>
            <a:r>
              <a:rPr sz="1300" b="0" i="0">
                <a:solidFill>
                  <a:srgbClr val="1A1A1A"/>
                </a:solidFill>
              </a:rPr>
              <a:t>Divided Government</a:t>
            </a:r>
          </a:p>
        </p:txBody>
      </p:sp>
      <p:sp>
        <p:nvSpPr>
          <p:cNvPr id="34" name="TextBox 33"/>
          <p:cNvSpPr txBox="1"/>
          <p:nvPr/>
        </p:nvSpPr>
        <p:spPr>
          <a:xfrm>
            <a:off x="8823960" y="4526280"/>
            <a:ext cx="685800" cy="329184"/>
          </a:xfrm>
          <a:prstGeom prst="rect">
            <a:avLst/>
          </a:prstGeom>
          <a:noFill/>
        </p:spPr>
        <p:txBody>
          <a:bodyPr wrap="square">
            <a:spAutoFit/>
          </a:bodyPr>
          <a:lstStyle/>
          <a:p>
            <a:pPr algn="ctr"/>
            <a:r>
              <a:rPr sz="1300" b="0" i="0">
                <a:solidFill>
                  <a:srgbClr val="1A1A1A"/>
                </a:solidFill>
              </a:rPr>
              <a:t>14</a:t>
            </a:r>
          </a:p>
        </p:txBody>
      </p:sp>
      <p:sp>
        <p:nvSpPr>
          <p:cNvPr id="35" name="TextBox 34"/>
          <p:cNvSpPr txBox="1"/>
          <p:nvPr/>
        </p:nvSpPr>
        <p:spPr>
          <a:xfrm>
            <a:off x="9738360" y="4526280"/>
            <a:ext cx="2423160" cy="329184"/>
          </a:xfrm>
          <a:prstGeom prst="rect">
            <a:avLst/>
          </a:prstGeom>
          <a:noFill/>
        </p:spPr>
        <p:txBody>
          <a:bodyPr wrap="square">
            <a:spAutoFit/>
          </a:bodyPr>
          <a:lstStyle/>
          <a:p>
            <a:pPr algn="l"/>
            <a:r>
              <a:rPr sz="1300" b="0" i="0">
                <a:solidFill>
                  <a:srgbClr val="1A1A1A"/>
                </a:solidFill>
              </a:rPr>
              <a:t>PA, NV, NC, AK, VA, WI</a:t>
            </a:r>
          </a:p>
        </p:txBody>
      </p:sp>
      <p:sp>
        <p:nvSpPr>
          <p:cNvPr id="36" name="Rectangle 35"/>
          <p:cNvSpPr/>
          <p:nvPr/>
        </p:nvSpPr>
        <p:spPr>
          <a:xfrm>
            <a:off x="6309360" y="4882896"/>
            <a:ext cx="5715000" cy="420624"/>
          </a:xfrm>
          <a:prstGeom prst="rect">
            <a:avLst/>
          </a:prstGeom>
          <a:solidFill>
            <a:srgbClr val="E8E8E8"/>
          </a:solidFill>
          <a:ln>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400800" y="4946904"/>
            <a:ext cx="2194560" cy="329184"/>
          </a:xfrm>
          <a:prstGeom prst="rect">
            <a:avLst/>
          </a:prstGeom>
          <a:noFill/>
        </p:spPr>
        <p:txBody>
          <a:bodyPr wrap="square">
            <a:spAutoFit/>
          </a:bodyPr>
          <a:lstStyle/>
          <a:p>
            <a:pPr algn="l"/>
            <a:r>
              <a:rPr sz="1100" b="1" i="0">
                <a:solidFill>
                  <a:srgbClr val="1A1A1A"/>
                </a:solidFill>
              </a:rPr>
              <a:t>Total</a:t>
            </a:r>
          </a:p>
        </p:txBody>
      </p:sp>
      <p:sp>
        <p:nvSpPr>
          <p:cNvPr id="38" name="TextBox 37"/>
          <p:cNvSpPr txBox="1"/>
          <p:nvPr/>
        </p:nvSpPr>
        <p:spPr>
          <a:xfrm>
            <a:off x="8823960" y="4946904"/>
            <a:ext cx="685800" cy="329184"/>
          </a:xfrm>
          <a:prstGeom prst="rect">
            <a:avLst/>
          </a:prstGeom>
          <a:noFill/>
        </p:spPr>
        <p:txBody>
          <a:bodyPr wrap="square">
            <a:spAutoFit/>
          </a:bodyPr>
          <a:lstStyle/>
          <a:p>
            <a:pPr algn="ctr"/>
            <a:r>
              <a:rPr sz="1100" b="1" i="0">
                <a:solidFill>
                  <a:srgbClr val="1A1A1A"/>
                </a:solidFill>
              </a:rPr>
              <a:t>51</a:t>
            </a:r>
          </a:p>
        </p:txBody>
      </p:sp>
      <p:sp>
        <p:nvSpPr>
          <p:cNvPr id="39" name="TextBox 38"/>
          <p:cNvSpPr txBox="1"/>
          <p:nvPr/>
        </p:nvSpPr>
        <p:spPr>
          <a:xfrm>
            <a:off x="9738360" y="4946904"/>
            <a:ext cx="2423160" cy="329184"/>
          </a:xfrm>
          <a:prstGeom prst="rect">
            <a:avLst/>
          </a:prstGeom>
          <a:noFill/>
        </p:spPr>
        <p:txBody>
          <a:bodyPr wrap="square">
            <a:spAutoFit/>
          </a:bodyPr>
          <a:lstStyle/>
          <a:p>
            <a:pPr algn="l"/>
            <a:r>
              <a:rPr sz="1100" b="1" i="0">
                <a:solidFill>
                  <a:srgbClr val="1A1A1A"/>
                </a:solidFill>
              </a:rPr>
              <a:t>17 states</a:t>
            </a:r>
          </a:p>
        </p:txBody>
      </p:sp>
      <p:sp>
        <p:nvSpPr>
          <p:cNvPr id="40" name="Rectangle 39"/>
          <p:cNvSpPr/>
          <p:nvPr/>
        </p:nvSpPr>
        <p:spPr>
          <a:xfrm>
            <a:off x="457200" y="5532120"/>
            <a:ext cx="11274552" cy="18288"/>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48640" y="5650992"/>
            <a:ext cx="11430000" cy="594360"/>
          </a:xfrm>
          <a:prstGeom prst="rect">
            <a:avLst/>
          </a:prstGeom>
          <a:noFill/>
        </p:spPr>
        <p:txBody>
          <a:bodyPr wrap="square">
            <a:spAutoFit/>
          </a:bodyPr>
          <a:lstStyle/>
          <a:p>
            <a:pPr algn="l"/>
            <a:r>
              <a:rPr sz="1200" b="0" i="1">
                <a:solidFill>
                  <a:srgbClr val="555555"/>
                </a:solidFill>
              </a:rPr>
              <a:t>Note: Minnesota accounts for 14 of 24 Democratic-trifecta bills (58%). Democratic findings are partly shaped by Minnesota's distinctive election administration structure (county auditors administer elections) and should be interpreted with this in mind.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C47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64592"/>
            <a:ext cx="11247120" cy="731520"/>
          </a:xfrm>
          <a:prstGeom prst="rect">
            <a:avLst/>
          </a:prstGeom>
          <a:noFill/>
        </p:spPr>
        <p:txBody>
          <a:bodyPr wrap="square">
            <a:spAutoFit/>
          </a:bodyPr>
          <a:lstStyle/>
          <a:p>
            <a:pPr algn="l"/>
            <a:r>
              <a:rPr sz="3400" b="1" i="0">
                <a:solidFill>
                  <a:srgbClr val="1A1A1A"/>
                </a:solidFill>
              </a:rPr>
              <a:t>Data: Text Extraction &amp; Preprocessing</a:t>
            </a:r>
          </a:p>
        </p:txBody>
      </p:sp>
      <p:sp>
        <p:nvSpPr>
          <p:cNvPr id="4" name="TextBox 3"/>
          <p:cNvSpPr txBox="1"/>
          <p:nvPr/>
        </p:nvSpPr>
        <p:spPr>
          <a:xfrm>
            <a:off x="457200" y="868680"/>
            <a:ext cx="11247120" cy="411480"/>
          </a:xfrm>
          <a:prstGeom prst="rect">
            <a:avLst/>
          </a:prstGeom>
          <a:noFill/>
        </p:spPr>
        <p:txBody>
          <a:bodyPr wrap="square">
            <a:spAutoFit/>
          </a:bodyPr>
          <a:lstStyle/>
          <a:p>
            <a:pPr algn="l"/>
            <a:r>
              <a:rPr sz="1800" b="0" i="0">
                <a:solidFill>
                  <a:srgbClr val="555555"/>
                </a:solidFill>
              </a:rPr>
              <a:t>Converting raw PDFs into an analysis-ready document-feature matrix</a:t>
            </a:r>
          </a:p>
        </p:txBody>
      </p:sp>
      <p:sp>
        <p:nvSpPr>
          <p:cNvPr id="5" name="TextBox 4"/>
          <p:cNvSpPr txBox="1"/>
          <p:nvPr/>
        </p:nvSpPr>
        <p:spPr>
          <a:xfrm>
            <a:off x="548640" y="1325880"/>
            <a:ext cx="3840480" cy="365760"/>
          </a:xfrm>
          <a:prstGeom prst="rect">
            <a:avLst/>
          </a:prstGeom>
          <a:noFill/>
        </p:spPr>
        <p:txBody>
          <a:bodyPr wrap="square">
            <a:spAutoFit/>
          </a:bodyPr>
          <a:lstStyle/>
          <a:p>
            <a:pPr algn="l"/>
            <a:r>
              <a:rPr sz="1600" b="1" i="0">
                <a:solidFill>
                  <a:srgbClr val="2C4770"/>
                </a:solidFill>
              </a:rPr>
              <a:t>PDF Extraction &amp; Attrition</a:t>
            </a:r>
          </a:p>
        </p:txBody>
      </p:sp>
      <p:sp>
        <p:nvSpPr>
          <p:cNvPr id="6" name="TextBox 5"/>
          <p:cNvSpPr txBox="1"/>
          <p:nvPr/>
        </p:nvSpPr>
        <p:spPr>
          <a:xfrm>
            <a:off x="4343400" y="1371600"/>
            <a:ext cx="1463040" cy="320040"/>
          </a:xfrm>
          <a:prstGeom prst="rect">
            <a:avLst/>
          </a:prstGeom>
          <a:noFill/>
        </p:spPr>
        <p:txBody>
          <a:bodyPr wrap="square">
            <a:spAutoFit/>
          </a:bodyPr>
          <a:lstStyle/>
          <a:p>
            <a:pPr algn="l"/>
            <a:r>
              <a:rPr sz="1200" b="0" i="1">
                <a:solidFill>
                  <a:srgbClr val="555555"/>
                </a:solidFill>
              </a:rPr>
              <a:t>pdftools</a:t>
            </a:r>
          </a:p>
        </p:txBody>
      </p:sp>
      <p:sp>
        <p:nvSpPr>
          <p:cNvPr id="7" name="Rectangle 6"/>
          <p:cNvSpPr/>
          <p:nvPr/>
        </p:nvSpPr>
        <p:spPr>
          <a:xfrm>
            <a:off x="548640" y="1783080"/>
            <a:ext cx="5394960" cy="475488"/>
          </a:xfrm>
          <a:prstGeom prst="rect">
            <a:avLst/>
          </a:prstGeom>
          <a:solidFill>
            <a:srgbClr val="2C47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856231"/>
            <a:ext cx="5212080" cy="347472"/>
          </a:xfrm>
          <a:prstGeom prst="rect">
            <a:avLst/>
          </a:prstGeom>
          <a:noFill/>
        </p:spPr>
        <p:txBody>
          <a:bodyPr wrap="square">
            <a:spAutoFit/>
          </a:bodyPr>
          <a:lstStyle/>
          <a:p>
            <a:pPr algn="ctr"/>
            <a:r>
              <a:rPr sz="1500" b="1" i="0">
                <a:solidFill>
                  <a:srgbClr val="FFFFFF"/>
                </a:solidFill>
              </a:rPr>
              <a:t>83 bills collected</a:t>
            </a:r>
          </a:p>
        </p:txBody>
      </p:sp>
      <p:sp>
        <p:nvSpPr>
          <p:cNvPr id="9" name="Rectangle 8"/>
          <p:cNvSpPr/>
          <p:nvPr/>
        </p:nvSpPr>
        <p:spPr>
          <a:xfrm>
            <a:off x="548640" y="2395728"/>
            <a:ext cx="5394960" cy="475488"/>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2468880"/>
            <a:ext cx="5212080" cy="347472"/>
          </a:xfrm>
          <a:prstGeom prst="rect">
            <a:avLst/>
          </a:prstGeom>
          <a:noFill/>
        </p:spPr>
        <p:txBody>
          <a:bodyPr wrap="square">
            <a:spAutoFit/>
          </a:bodyPr>
          <a:lstStyle/>
          <a:p>
            <a:pPr algn="ctr"/>
            <a:r>
              <a:rPr sz="1500" b="1" i="0">
                <a:solidFill>
                  <a:srgbClr val="FFFFFF"/>
                </a:solidFill>
              </a:rPr>
              <a:t>51 PDFs yielded text</a:t>
            </a:r>
          </a:p>
        </p:txBody>
      </p:sp>
      <p:sp>
        <p:nvSpPr>
          <p:cNvPr id="11" name="Rectangle 10"/>
          <p:cNvSpPr/>
          <p:nvPr/>
        </p:nvSpPr>
        <p:spPr>
          <a:xfrm>
            <a:off x="548640" y="3008376"/>
            <a:ext cx="5394960" cy="475488"/>
          </a:xfrm>
          <a:prstGeom prst="rect">
            <a:avLst/>
          </a:prstGeom>
          <a:solidFill>
            <a:srgbClr val="B02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3081528"/>
            <a:ext cx="5212080" cy="347472"/>
          </a:xfrm>
          <a:prstGeom prst="rect">
            <a:avLst/>
          </a:prstGeom>
          <a:noFill/>
        </p:spPr>
        <p:txBody>
          <a:bodyPr wrap="square">
            <a:spAutoFit/>
          </a:bodyPr>
          <a:lstStyle/>
          <a:p>
            <a:pPr algn="ctr"/>
            <a:r>
              <a:rPr sz="1500" b="1" i="0">
                <a:solidFill>
                  <a:srgbClr val="FFFFFF"/>
                </a:solidFill>
              </a:rPr>
              <a:t>32 failed extraction</a:t>
            </a:r>
          </a:p>
        </p:txBody>
      </p:sp>
      <p:sp>
        <p:nvSpPr>
          <p:cNvPr id="13" name="TextBox 12"/>
          <p:cNvSpPr txBox="1"/>
          <p:nvPr/>
        </p:nvSpPr>
        <p:spPr>
          <a:xfrm>
            <a:off x="548640" y="3657600"/>
            <a:ext cx="5394960" cy="1188720"/>
          </a:xfrm>
          <a:prstGeom prst="rect">
            <a:avLst/>
          </a:prstGeom>
          <a:noFill/>
        </p:spPr>
        <p:txBody>
          <a:bodyPr wrap="square">
            <a:spAutoFit/>
          </a:bodyPr>
          <a:lstStyle/>
          <a:p>
            <a:pPr algn="l"/>
            <a:r>
              <a:rPr sz="1400" b="0" i="0">
                <a:solidFill>
                  <a:srgbClr val="1A1A1A"/>
                </a:solidFill>
              </a:rPr>
              <a:t>Failed PDFs were predominantly corrupted or near-empty placeholder files (some as small as 98 bytes) — likely a source-database quality issue, not a processing error. Whether excluded bills differ systematically from included bills is unknown; this is a study limitation.</a:t>
            </a:r>
          </a:p>
        </p:txBody>
      </p:sp>
      <p:sp>
        <p:nvSpPr>
          <p:cNvPr id="14" name="TextBox 13"/>
          <p:cNvSpPr txBox="1"/>
          <p:nvPr/>
        </p:nvSpPr>
        <p:spPr>
          <a:xfrm>
            <a:off x="6492240" y="1325880"/>
            <a:ext cx="3291840" cy="365760"/>
          </a:xfrm>
          <a:prstGeom prst="rect">
            <a:avLst/>
          </a:prstGeom>
          <a:noFill/>
        </p:spPr>
        <p:txBody>
          <a:bodyPr wrap="square">
            <a:spAutoFit/>
          </a:bodyPr>
          <a:lstStyle/>
          <a:p>
            <a:pPr algn="l"/>
            <a:r>
              <a:rPr sz="1600" b="1" i="0">
                <a:solidFill>
                  <a:srgbClr val="2C4770"/>
                </a:solidFill>
              </a:rPr>
              <a:t>Preprocessing Pipeline</a:t>
            </a:r>
          </a:p>
        </p:txBody>
      </p:sp>
      <p:sp>
        <p:nvSpPr>
          <p:cNvPr id="15" name="TextBox 14"/>
          <p:cNvSpPr txBox="1"/>
          <p:nvPr/>
        </p:nvSpPr>
        <p:spPr>
          <a:xfrm>
            <a:off x="9738360" y="1371600"/>
            <a:ext cx="2103120" cy="320040"/>
          </a:xfrm>
          <a:prstGeom prst="rect">
            <a:avLst/>
          </a:prstGeom>
          <a:noFill/>
        </p:spPr>
        <p:txBody>
          <a:bodyPr wrap="square">
            <a:spAutoFit/>
          </a:bodyPr>
          <a:lstStyle/>
          <a:p>
            <a:pPr algn="l"/>
            <a:r>
              <a:rPr sz="1200" b="0" i="1">
                <a:solidFill>
                  <a:srgbClr val="555555"/>
                </a:solidFill>
              </a:rPr>
              <a:t>quanteda  ·  stringr</a:t>
            </a:r>
          </a:p>
        </p:txBody>
      </p:sp>
      <p:sp>
        <p:nvSpPr>
          <p:cNvPr id="16" name="Oval 15"/>
          <p:cNvSpPr/>
          <p:nvPr/>
        </p:nvSpPr>
        <p:spPr>
          <a:xfrm>
            <a:off x="6492240" y="1783080"/>
            <a:ext cx="411480" cy="411480"/>
          </a:xfrm>
          <a:prstGeom prst="ellipse">
            <a:avLst/>
          </a:prstGeom>
          <a:solidFill>
            <a:srgbClr val="2C47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92240" y="1810512"/>
            <a:ext cx="411480" cy="347472"/>
          </a:xfrm>
          <a:prstGeom prst="rect">
            <a:avLst/>
          </a:prstGeom>
          <a:noFill/>
        </p:spPr>
        <p:txBody>
          <a:bodyPr wrap="square">
            <a:spAutoFit/>
          </a:bodyPr>
          <a:lstStyle/>
          <a:p>
            <a:pPr algn="ctr"/>
            <a:r>
              <a:rPr sz="1300" b="1" i="0">
                <a:solidFill>
                  <a:srgbClr val="FFFFFF"/>
                </a:solidFill>
              </a:rPr>
              <a:t>1</a:t>
            </a:r>
          </a:p>
        </p:txBody>
      </p:sp>
      <p:sp>
        <p:nvSpPr>
          <p:cNvPr id="18" name="TextBox 17"/>
          <p:cNvSpPr txBox="1"/>
          <p:nvPr/>
        </p:nvSpPr>
        <p:spPr>
          <a:xfrm>
            <a:off x="6995160" y="1783080"/>
            <a:ext cx="1005840" cy="347472"/>
          </a:xfrm>
          <a:prstGeom prst="rect">
            <a:avLst/>
          </a:prstGeom>
          <a:noFill/>
        </p:spPr>
        <p:txBody>
          <a:bodyPr wrap="square">
            <a:spAutoFit/>
          </a:bodyPr>
          <a:lstStyle/>
          <a:p>
            <a:pPr algn="l"/>
            <a:r>
              <a:rPr sz="1400" b="1" i="0">
                <a:solidFill>
                  <a:srgbClr val="1A1A1A"/>
                </a:solidFill>
              </a:rPr>
              <a:t>Clean</a:t>
            </a:r>
          </a:p>
        </p:txBody>
      </p:sp>
      <p:sp>
        <p:nvSpPr>
          <p:cNvPr id="19" name="TextBox 18"/>
          <p:cNvSpPr txBox="1"/>
          <p:nvPr/>
        </p:nvSpPr>
        <p:spPr>
          <a:xfrm>
            <a:off x="8001000" y="1801368"/>
            <a:ext cx="3886200" cy="292608"/>
          </a:xfrm>
          <a:prstGeom prst="rect">
            <a:avLst/>
          </a:prstGeom>
          <a:noFill/>
        </p:spPr>
        <p:txBody>
          <a:bodyPr wrap="square">
            <a:spAutoFit/>
          </a:bodyPr>
          <a:lstStyle/>
          <a:p>
            <a:pPr algn="l"/>
            <a:r>
              <a:rPr sz="1100" b="0" i="1">
                <a:solidFill>
                  <a:srgbClr val="2C4770"/>
                </a:solidFill>
              </a:rPr>
              <a:t>stringr</a:t>
            </a:r>
          </a:p>
        </p:txBody>
      </p:sp>
      <p:sp>
        <p:nvSpPr>
          <p:cNvPr id="20" name="TextBox 19"/>
          <p:cNvSpPr txBox="1"/>
          <p:nvPr/>
        </p:nvSpPr>
        <p:spPr>
          <a:xfrm>
            <a:off x="6995160" y="2130552"/>
            <a:ext cx="4892040" cy="502920"/>
          </a:xfrm>
          <a:prstGeom prst="rect">
            <a:avLst/>
          </a:prstGeom>
          <a:noFill/>
        </p:spPr>
        <p:txBody>
          <a:bodyPr wrap="square">
            <a:spAutoFit/>
          </a:bodyPr>
          <a:lstStyle/>
          <a:p>
            <a:pPr algn="l"/>
            <a:r>
              <a:rPr sz="1300" b="0" i="0">
                <a:solidFill>
                  <a:srgbClr val="555555"/>
                </a:solidFill>
              </a:rPr>
              <a:t>Removed page numbers, hyphenated line breaks, non-printable characters</a:t>
            </a:r>
          </a:p>
        </p:txBody>
      </p:sp>
      <p:sp>
        <p:nvSpPr>
          <p:cNvPr id="21" name="Oval 20"/>
          <p:cNvSpPr/>
          <p:nvPr/>
        </p:nvSpPr>
        <p:spPr>
          <a:xfrm>
            <a:off x="6492240" y="2743200"/>
            <a:ext cx="411480" cy="411480"/>
          </a:xfrm>
          <a:prstGeom prst="ellipse">
            <a:avLst/>
          </a:prstGeom>
          <a:solidFill>
            <a:srgbClr val="2C47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92240" y="2770632"/>
            <a:ext cx="411480" cy="347472"/>
          </a:xfrm>
          <a:prstGeom prst="rect">
            <a:avLst/>
          </a:prstGeom>
          <a:noFill/>
        </p:spPr>
        <p:txBody>
          <a:bodyPr wrap="square">
            <a:spAutoFit/>
          </a:bodyPr>
          <a:lstStyle/>
          <a:p>
            <a:pPr algn="ctr"/>
            <a:r>
              <a:rPr sz="1300" b="1" i="0">
                <a:solidFill>
                  <a:srgbClr val="FFFFFF"/>
                </a:solidFill>
              </a:rPr>
              <a:t>2</a:t>
            </a:r>
          </a:p>
        </p:txBody>
      </p:sp>
      <p:sp>
        <p:nvSpPr>
          <p:cNvPr id="23" name="TextBox 22"/>
          <p:cNvSpPr txBox="1"/>
          <p:nvPr/>
        </p:nvSpPr>
        <p:spPr>
          <a:xfrm>
            <a:off x="6995160" y="2743200"/>
            <a:ext cx="1005840" cy="347472"/>
          </a:xfrm>
          <a:prstGeom prst="rect">
            <a:avLst/>
          </a:prstGeom>
          <a:noFill/>
        </p:spPr>
        <p:txBody>
          <a:bodyPr wrap="square">
            <a:spAutoFit/>
          </a:bodyPr>
          <a:lstStyle/>
          <a:p>
            <a:pPr algn="l"/>
            <a:r>
              <a:rPr sz="1400" b="1" i="0">
                <a:solidFill>
                  <a:srgbClr val="1A1A1A"/>
                </a:solidFill>
              </a:rPr>
              <a:t>Tokenize</a:t>
            </a:r>
          </a:p>
        </p:txBody>
      </p:sp>
      <p:sp>
        <p:nvSpPr>
          <p:cNvPr id="24" name="TextBox 23"/>
          <p:cNvSpPr txBox="1"/>
          <p:nvPr/>
        </p:nvSpPr>
        <p:spPr>
          <a:xfrm>
            <a:off x="8001000" y="2761488"/>
            <a:ext cx="3886200" cy="292608"/>
          </a:xfrm>
          <a:prstGeom prst="rect">
            <a:avLst/>
          </a:prstGeom>
          <a:noFill/>
        </p:spPr>
        <p:txBody>
          <a:bodyPr wrap="square">
            <a:spAutoFit/>
          </a:bodyPr>
          <a:lstStyle/>
          <a:p>
            <a:pPr algn="l"/>
            <a:r>
              <a:rPr sz="1100" b="0" i="1">
                <a:solidFill>
                  <a:srgbClr val="2C4770"/>
                </a:solidFill>
              </a:rPr>
              <a:t>quanteda</a:t>
            </a:r>
          </a:p>
        </p:txBody>
      </p:sp>
      <p:sp>
        <p:nvSpPr>
          <p:cNvPr id="25" name="TextBox 24"/>
          <p:cNvSpPr txBox="1"/>
          <p:nvPr/>
        </p:nvSpPr>
        <p:spPr>
          <a:xfrm>
            <a:off x="6995160" y="3090672"/>
            <a:ext cx="4892040" cy="502920"/>
          </a:xfrm>
          <a:prstGeom prst="rect">
            <a:avLst/>
          </a:prstGeom>
          <a:noFill/>
        </p:spPr>
        <p:txBody>
          <a:bodyPr wrap="square">
            <a:spAutoFit/>
          </a:bodyPr>
          <a:lstStyle/>
          <a:p>
            <a:pPr algn="l"/>
            <a:r>
              <a:rPr sz="1300" b="0" i="0">
                <a:solidFill>
                  <a:srgbClr val="555555"/>
                </a:solidFill>
              </a:rPr>
              <a:t>Lowercased; stripped punctuation, numbers, and URLs</a:t>
            </a:r>
          </a:p>
        </p:txBody>
      </p:sp>
      <p:sp>
        <p:nvSpPr>
          <p:cNvPr id="26" name="Oval 25"/>
          <p:cNvSpPr/>
          <p:nvPr/>
        </p:nvSpPr>
        <p:spPr>
          <a:xfrm>
            <a:off x="6492240" y="3703320"/>
            <a:ext cx="411480" cy="411480"/>
          </a:xfrm>
          <a:prstGeom prst="ellipse">
            <a:avLst/>
          </a:prstGeom>
          <a:solidFill>
            <a:srgbClr val="2C47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92240" y="3730752"/>
            <a:ext cx="411480" cy="347472"/>
          </a:xfrm>
          <a:prstGeom prst="rect">
            <a:avLst/>
          </a:prstGeom>
          <a:noFill/>
        </p:spPr>
        <p:txBody>
          <a:bodyPr wrap="square">
            <a:spAutoFit/>
          </a:bodyPr>
          <a:lstStyle/>
          <a:p>
            <a:pPr algn="ctr"/>
            <a:r>
              <a:rPr sz="1300" b="1" i="0">
                <a:solidFill>
                  <a:srgbClr val="FFFFFF"/>
                </a:solidFill>
              </a:rPr>
              <a:t>3</a:t>
            </a:r>
          </a:p>
        </p:txBody>
      </p:sp>
      <p:sp>
        <p:nvSpPr>
          <p:cNvPr id="28" name="TextBox 27"/>
          <p:cNvSpPr txBox="1"/>
          <p:nvPr/>
        </p:nvSpPr>
        <p:spPr>
          <a:xfrm>
            <a:off x="6995160" y="3703320"/>
            <a:ext cx="1005840" cy="347472"/>
          </a:xfrm>
          <a:prstGeom prst="rect">
            <a:avLst/>
          </a:prstGeom>
          <a:noFill/>
        </p:spPr>
        <p:txBody>
          <a:bodyPr wrap="square">
            <a:spAutoFit/>
          </a:bodyPr>
          <a:lstStyle/>
          <a:p>
            <a:pPr algn="l"/>
            <a:r>
              <a:rPr sz="1400" b="1" i="0">
                <a:solidFill>
                  <a:srgbClr val="1A1A1A"/>
                </a:solidFill>
              </a:rPr>
              <a:t>Stem</a:t>
            </a:r>
          </a:p>
        </p:txBody>
      </p:sp>
      <p:sp>
        <p:nvSpPr>
          <p:cNvPr id="29" name="TextBox 28"/>
          <p:cNvSpPr txBox="1"/>
          <p:nvPr/>
        </p:nvSpPr>
        <p:spPr>
          <a:xfrm>
            <a:off x="8001000" y="3721607"/>
            <a:ext cx="3886200" cy="292608"/>
          </a:xfrm>
          <a:prstGeom prst="rect">
            <a:avLst/>
          </a:prstGeom>
          <a:noFill/>
        </p:spPr>
        <p:txBody>
          <a:bodyPr wrap="square">
            <a:spAutoFit/>
          </a:bodyPr>
          <a:lstStyle/>
          <a:p>
            <a:pPr algn="l"/>
            <a:r>
              <a:rPr sz="1100" b="0" i="1">
                <a:solidFill>
                  <a:srgbClr val="2C4770"/>
                </a:solidFill>
              </a:rPr>
              <a:t>quanteda</a:t>
            </a:r>
          </a:p>
        </p:txBody>
      </p:sp>
      <p:sp>
        <p:nvSpPr>
          <p:cNvPr id="30" name="TextBox 29"/>
          <p:cNvSpPr txBox="1"/>
          <p:nvPr/>
        </p:nvSpPr>
        <p:spPr>
          <a:xfrm>
            <a:off x="6995160" y="4050791"/>
            <a:ext cx="4892040" cy="502920"/>
          </a:xfrm>
          <a:prstGeom prst="rect">
            <a:avLst/>
          </a:prstGeom>
          <a:noFill/>
        </p:spPr>
        <p:txBody>
          <a:bodyPr wrap="square">
            <a:spAutoFit/>
          </a:bodyPr>
          <a:lstStyle/>
          <a:p>
            <a:pPr algn="l"/>
            <a:r>
              <a:rPr sz="1300" b="0" i="0">
                <a:solidFill>
                  <a:srgbClr val="555555"/>
                </a:solidFill>
              </a:rPr>
              <a:t>Porter stemmer applied to reduce words to root forms</a:t>
            </a:r>
          </a:p>
        </p:txBody>
      </p:sp>
      <p:sp>
        <p:nvSpPr>
          <p:cNvPr id="31" name="Oval 30"/>
          <p:cNvSpPr/>
          <p:nvPr/>
        </p:nvSpPr>
        <p:spPr>
          <a:xfrm>
            <a:off x="6492240" y="4663440"/>
            <a:ext cx="411480" cy="411480"/>
          </a:xfrm>
          <a:prstGeom prst="ellipse">
            <a:avLst/>
          </a:prstGeom>
          <a:solidFill>
            <a:srgbClr val="2C47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92240" y="4690872"/>
            <a:ext cx="411480" cy="347472"/>
          </a:xfrm>
          <a:prstGeom prst="rect">
            <a:avLst/>
          </a:prstGeom>
          <a:noFill/>
        </p:spPr>
        <p:txBody>
          <a:bodyPr wrap="square">
            <a:spAutoFit/>
          </a:bodyPr>
          <a:lstStyle/>
          <a:p>
            <a:pPr algn="ctr"/>
            <a:r>
              <a:rPr sz="1300" b="1" i="0">
                <a:solidFill>
                  <a:srgbClr val="FFFFFF"/>
                </a:solidFill>
              </a:rPr>
              <a:t>4</a:t>
            </a:r>
          </a:p>
        </p:txBody>
      </p:sp>
      <p:sp>
        <p:nvSpPr>
          <p:cNvPr id="33" name="TextBox 32"/>
          <p:cNvSpPr txBox="1"/>
          <p:nvPr/>
        </p:nvSpPr>
        <p:spPr>
          <a:xfrm>
            <a:off x="6995160" y="4663440"/>
            <a:ext cx="1005840" cy="347472"/>
          </a:xfrm>
          <a:prstGeom prst="rect">
            <a:avLst/>
          </a:prstGeom>
          <a:noFill/>
        </p:spPr>
        <p:txBody>
          <a:bodyPr wrap="square">
            <a:spAutoFit/>
          </a:bodyPr>
          <a:lstStyle/>
          <a:p>
            <a:pPr algn="l"/>
            <a:r>
              <a:rPr sz="1400" b="1" i="0">
                <a:solidFill>
                  <a:srgbClr val="1A1A1A"/>
                </a:solidFill>
              </a:rPr>
              <a:t>Filter</a:t>
            </a:r>
          </a:p>
        </p:txBody>
      </p:sp>
      <p:sp>
        <p:nvSpPr>
          <p:cNvPr id="34" name="TextBox 33"/>
          <p:cNvSpPr txBox="1"/>
          <p:nvPr/>
        </p:nvSpPr>
        <p:spPr>
          <a:xfrm>
            <a:off x="8001000" y="4681728"/>
            <a:ext cx="3886200" cy="292608"/>
          </a:xfrm>
          <a:prstGeom prst="rect">
            <a:avLst/>
          </a:prstGeom>
          <a:noFill/>
        </p:spPr>
        <p:txBody>
          <a:bodyPr wrap="square">
            <a:spAutoFit/>
          </a:bodyPr>
          <a:lstStyle/>
          <a:p>
            <a:pPr algn="l"/>
            <a:r>
              <a:rPr sz="1100" b="0" i="1">
                <a:solidFill>
                  <a:srgbClr val="2C4770"/>
                </a:solidFill>
              </a:rPr>
              <a:t>quanteda</a:t>
            </a:r>
          </a:p>
        </p:txBody>
      </p:sp>
      <p:sp>
        <p:nvSpPr>
          <p:cNvPr id="35" name="TextBox 34"/>
          <p:cNvSpPr txBox="1"/>
          <p:nvPr/>
        </p:nvSpPr>
        <p:spPr>
          <a:xfrm>
            <a:off x="6995160" y="5010912"/>
            <a:ext cx="4892040" cy="502920"/>
          </a:xfrm>
          <a:prstGeom prst="rect">
            <a:avLst/>
          </a:prstGeom>
          <a:noFill/>
        </p:spPr>
        <p:txBody>
          <a:bodyPr wrap="square">
            <a:spAutoFit/>
          </a:bodyPr>
          <a:lstStyle/>
          <a:p>
            <a:pPr algn="l"/>
            <a:r>
              <a:rPr sz="1300" b="0" i="0">
                <a:solidFill>
                  <a:srgbClr val="555555"/>
                </a:solidFill>
              </a:rPr>
              <a:t>Standard English stopwords + legal boilerplate removed
(shall, enacted, pursuant, herein, subsection, section, amended…)</a:t>
            </a:r>
          </a:p>
        </p:txBody>
      </p:sp>
      <p:sp>
        <p:nvSpPr>
          <p:cNvPr id="36" name="Rectangle 35"/>
          <p:cNvSpPr/>
          <p:nvPr/>
        </p:nvSpPr>
        <p:spPr>
          <a:xfrm>
            <a:off x="457200" y="5532120"/>
            <a:ext cx="11274552" cy="18288"/>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48640" y="5650992"/>
            <a:ext cx="11430000" cy="502920"/>
          </a:xfrm>
          <a:prstGeom prst="rect">
            <a:avLst/>
          </a:prstGeom>
          <a:noFill/>
        </p:spPr>
        <p:txBody>
          <a:bodyPr wrap="square">
            <a:spAutoFit/>
          </a:bodyPr>
          <a:lstStyle/>
          <a:p>
            <a:pPr algn="l"/>
            <a:r>
              <a:rPr sz="1300" b="0" i="1">
                <a:solidFill>
                  <a:srgbClr val="555555"/>
                </a:solidFill>
              </a:rPr>
              <a:t>Final DFM:  2,589 unique word stems  ·  51 documents  ·  268,589 total tokens  ·  Mean bill length: 5,266 tokens (range: 67–22,444)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C47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64592"/>
            <a:ext cx="11247120" cy="731520"/>
          </a:xfrm>
          <a:prstGeom prst="rect">
            <a:avLst/>
          </a:prstGeom>
          <a:noFill/>
        </p:spPr>
        <p:txBody>
          <a:bodyPr wrap="square">
            <a:spAutoFit/>
          </a:bodyPr>
          <a:lstStyle/>
          <a:p>
            <a:pPr algn="l"/>
            <a:r>
              <a:rPr sz="3400" b="1" i="0">
                <a:solidFill>
                  <a:srgbClr val="1A1A1A"/>
                </a:solidFill>
              </a:rPr>
              <a:t>How We Analyzed the Bills</a:t>
            </a:r>
          </a:p>
        </p:txBody>
      </p:sp>
      <p:sp>
        <p:nvSpPr>
          <p:cNvPr id="4" name="TextBox 3"/>
          <p:cNvSpPr txBox="1"/>
          <p:nvPr/>
        </p:nvSpPr>
        <p:spPr>
          <a:xfrm>
            <a:off x="457200" y="868680"/>
            <a:ext cx="11247120" cy="411480"/>
          </a:xfrm>
          <a:prstGeom prst="rect">
            <a:avLst/>
          </a:prstGeom>
          <a:noFill/>
        </p:spPr>
        <p:txBody>
          <a:bodyPr wrap="square">
            <a:spAutoFit/>
          </a:bodyPr>
          <a:lstStyle/>
          <a:p>
            <a:pPr algn="l"/>
            <a:r>
              <a:rPr sz="1800" b="0" i="0">
                <a:solidFill>
                  <a:srgbClr val="555555"/>
                </a:solidFill>
              </a:rPr>
              <a:t>Three analytical steps — each answers a different question about the text</a:t>
            </a:r>
          </a:p>
        </p:txBody>
      </p:sp>
      <p:sp>
        <p:nvSpPr>
          <p:cNvPr id="5" name="Rectangle 4"/>
          <p:cNvSpPr/>
          <p:nvPr/>
        </p:nvSpPr>
        <p:spPr>
          <a:xfrm>
            <a:off x="548640" y="1417320"/>
            <a:ext cx="11064240" cy="13258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685800" y="1828800"/>
            <a:ext cx="457200" cy="457200"/>
          </a:xfrm>
          <a:prstGeom prst="ellipse">
            <a:avLst/>
          </a:prstGeom>
          <a:solidFill>
            <a:srgbClr val="2C47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856232"/>
            <a:ext cx="457200" cy="365760"/>
          </a:xfrm>
          <a:prstGeom prst="rect">
            <a:avLst/>
          </a:prstGeom>
          <a:noFill/>
        </p:spPr>
        <p:txBody>
          <a:bodyPr wrap="square">
            <a:spAutoFit/>
          </a:bodyPr>
          <a:lstStyle/>
          <a:p>
            <a:pPr algn="ctr"/>
            <a:r>
              <a:rPr sz="1600" b="1" i="0">
                <a:solidFill>
                  <a:srgbClr val="FFFFFF"/>
                </a:solidFill>
              </a:rPr>
              <a:t>1</a:t>
            </a:r>
          </a:p>
        </p:txBody>
      </p:sp>
      <p:sp>
        <p:nvSpPr>
          <p:cNvPr id="8" name="TextBox 7"/>
          <p:cNvSpPr txBox="1"/>
          <p:nvPr/>
        </p:nvSpPr>
        <p:spPr>
          <a:xfrm>
            <a:off x="1280160" y="1508760"/>
            <a:ext cx="9875520" cy="384048"/>
          </a:xfrm>
          <a:prstGeom prst="rect">
            <a:avLst/>
          </a:prstGeom>
          <a:noFill/>
        </p:spPr>
        <p:txBody>
          <a:bodyPr wrap="square">
            <a:spAutoFit/>
          </a:bodyPr>
          <a:lstStyle/>
          <a:p>
            <a:pPr algn="l"/>
            <a:r>
              <a:rPr sz="1600" b="1" i="0">
                <a:solidFill>
                  <a:srgbClr val="1A1A1A"/>
                </a:solidFill>
              </a:rPr>
              <a:t>Which words stand out?</a:t>
            </a:r>
          </a:p>
        </p:txBody>
      </p:sp>
      <p:sp>
        <p:nvSpPr>
          <p:cNvPr id="9" name="TextBox 8"/>
          <p:cNvSpPr txBox="1"/>
          <p:nvPr/>
        </p:nvSpPr>
        <p:spPr>
          <a:xfrm>
            <a:off x="1280160" y="1920240"/>
            <a:ext cx="9875520" cy="749808"/>
          </a:xfrm>
          <a:prstGeom prst="rect">
            <a:avLst/>
          </a:prstGeom>
          <a:noFill/>
        </p:spPr>
        <p:txBody>
          <a:bodyPr wrap="square">
            <a:spAutoFit/>
          </a:bodyPr>
          <a:lstStyle/>
          <a:p>
            <a:pPr algn="l"/>
            <a:r>
              <a:rPr sz="1400" b="0" i="0">
                <a:solidFill>
                  <a:srgbClr val="555555"/>
                </a:solidFill>
              </a:rPr>
              <a:t>We measured which words each political group uses more than the others. Words that appear equally across all three groups are ignored — only vocabulary that is distinctive to one group gets highlighted.</a:t>
            </a:r>
          </a:p>
        </p:txBody>
      </p:sp>
      <p:sp>
        <p:nvSpPr>
          <p:cNvPr id="10" name="Rectangle 9"/>
          <p:cNvSpPr/>
          <p:nvPr/>
        </p:nvSpPr>
        <p:spPr>
          <a:xfrm>
            <a:off x="548640" y="2926080"/>
            <a:ext cx="11064240" cy="13258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85800" y="3337560"/>
            <a:ext cx="457200" cy="457200"/>
          </a:xfrm>
          <a:prstGeom prst="ellipse">
            <a:avLst/>
          </a:prstGeom>
          <a:solidFill>
            <a:srgbClr val="2C47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85800" y="3364992"/>
            <a:ext cx="457200" cy="365760"/>
          </a:xfrm>
          <a:prstGeom prst="rect">
            <a:avLst/>
          </a:prstGeom>
          <a:noFill/>
        </p:spPr>
        <p:txBody>
          <a:bodyPr wrap="square">
            <a:spAutoFit/>
          </a:bodyPr>
          <a:lstStyle/>
          <a:p>
            <a:pPr algn="ctr"/>
            <a:r>
              <a:rPr sz="1600" b="1" i="0">
                <a:solidFill>
                  <a:srgbClr val="FFFFFF"/>
                </a:solidFill>
              </a:rPr>
              <a:t>2</a:t>
            </a:r>
          </a:p>
        </p:txBody>
      </p:sp>
      <p:sp>
        <p:nvSpPr>
          <p:cNvPr id="13" name="TextBox 12"/>
          <p:cNvSpPr txBox="1"/>
          <p:nvPr/>
        </p:nvSpPr>
        <p:spPr>
          <a:xfrm>
            <a:off x="1280160" y="3017520"/>
            <a:ext cx="9875520" cy="384048"/>
          </a:xfrm>
          <a:prstGeom prst="rect">
            <a:avLst/>
          </a:prstGeom>
          <a:noFill/>
        </p:spPr>
        <p:txBody>
          <a:bodyPr wrap="square">
            <a:spAutoFit/>
          </a:bodyPr>
          <a:lstStyle/>
          <a:p>
            <a:pPr algn="l"/>
            <a:r>
              <a:rPr sz="1600" b="1" i="0">
                <a:solidFill>
                  <a:srgbClr val="1A1A1A"/>
                </a:solidFill>
              </a:rPr>
              <a:t>What policy areas emerge?</a:t>
            </a:r>
          </a:p>
        </p:txBody>
      </p:sp>
      <p:sp>
        <p:nvSpPr>
          <p:cNvPr id="14" name="TextBox 13"/>
          <p:cNvSpPr txBox="1"/>
          <p:nvPr/>
        </p:nvSpPr>
        <p:spPr>
          <a:xfrm>
            <a:off x="1280160" y="3429000"/>
            <a:ext cx="9875520" cy="749808"/>
          </a:xfrm>
          <a:prstGeom prst="rect">
            <a:avLst/>
          </a:prstGeom>
          <a:noFill/>
        </p:spPr>
        <p:txBody>
          <a:bodyPr wrap="square">
            <a:spAutoFit/>
          </a:bodyPr>
          <a:lstStyle/>
          <a:p>
            <a:pPr algn="l"/>
            <a:r>
              <a:rPr sz="1400" b="0" i="0">
                <a:solidFill>
                  <a:srgbClr val="555555"/>
                </a:solidFill>
              </a:rPr>
              <a:t>We let the computer group bills by the language they share — without telling it anything about party or politics. Four natural clusters emerged. We then read the top words in each cluster and named the themes ourselves.</a:t>
            </a:r>
          </a:p>
        </p:txBody>
      </p:sp>
      <p:sp>
        <p:nvSpPr>
          <p:cNvPr id="15" name="Rectangle 14"/>
          <p:cNvSpPr/>
          <p:nvPr/>
        </p:nvSpPr>
        <p:spPr>
          <a:xfrm>
            <a:off x="548640" y="4434840"/>
            <a:ext cx="11064240" cy="13258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85800" y="4846320"/>
            <a:ext cx="457200" cy="457200"/>
          </a:xfrm>
          <a:prstGeom prst="ellipse">
            <a:avLst/>
          </a:prstGeom>
          <a:solidFill>
            <a:srgbClr val="2C47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85800" y="4873752"/>
            <a:ext cx="457200" cy="365760"/>
          </a:xfrm>
          <a:prstGeom prst="rect">
            <a:avLst/>
          </a:prstGeom>
          <a:noFill/>
        </p:spPr>
        <p:txBody>
          <a:bodyPr wrap="square">
            <a:spAutoFit/>
          </a:bodyPr>
          <a:lstStyle/>
          <a:p>
            <a:pPr algn="ctr"/>
            <a:r>
              <a:rPr sz="1600" b="1" i="0">
                <a:solidFill>
                  <a:srgbClr val="FFFFFF"/>
                </a:solidFill>
              </a:rPr>
              <a:t>3</a:t>
            </a:r>
          </a:p>
        </p:txBody>
      </p:sp>
      <p:sp>
        <p:nvSpPr>
          <p:cNvPr id="18" name="TextBox 17"/>
          <p:cNvSpPr txBox="1"/>
          <p:nvPr/>
        </p:nvSpPr>
        <p:spPr>
          <a:xfrm>
            <a:off x="1280160" y="4526279"/>
            <a:ext cx="9875520" cy="384048"/>
          </a:xfrm>
          <a:prstGeom prst="rect">
            <a:avLst/>
          </a:prstGeom>
          <a:noFill/>
        </p:spPr>
        <p:txBody>
          <a:bodyPr wrap="square">
            <a:spAutoFit/>
          </a:bodyPr>
          <a:lstStyle/>
          <a:p>
            <a:pPr algn="l"/>
            <a:r>
              <a:rPr sz="1600" b="1" i="0">
                <a:solidFill>
                  <a:srgbClr val="1A1A1A"/>
                </a:solidFill>
              </a:rPr>
              <a:t>Is the bill expanding or restricting voting?</a:t>
            </a:r>
          </a:p>
        </p:txBody>
      </p:sp>
      <p:sp>
        <p:nvSpPr>
          <p:cNvPr id="19" name="TextBox 18"/>
          <p:cNvSpPr txBox="1"/>
          <p:nvPr/>
        </p:nvSpPr>
        <p:spPr>
          <a:xfrm>
            <a:off x="1280160" y="4937759"/>
            <a:ext cx="9875520" cy="749808"/>
          </a:xfrm>
          <a:prstGeom prst="rect">
            <a:avLst/>
          </a:prstGeom>
          <a:noFill/>
        </p:spPr>
        <p:txBody>
          <a:bodyPr wrap="square">
            <a:spAutoFit/>
          </a:bodyPr>
          <a:lstStyle/>
          <a:p>
            <a:pPr algn="l"/>
            <a:r>
              <a:rPr sz="1400" b="0" i="0">
                <a:solidFill>
                  <a:srgbClr val="555555"/>
                </a:solidFill>
              </a:rPr>
              <a:t>We fed each bill to an AI model and asked it to classify the bill as Restrictive, Expansive, or Neutral based on a clear ruleset. The AI also explained its reasoning for each decision.</a:t>
            </a:r>
          </a:p>
        </p:txBody>
      </p:sp>
      <p:sp>
        <p:nvSpPr>
          <p:cNvPr id="20" name="Rectangle 19"/>
          <p:cNvSpPr/>
          <p:nvPr/>
        </p:nvSpPr>
        <p:spPr>
          <a:xfrm>
            <a:off x="457200" y="6035040"/>
            <a:ext cx="11274552" cy="18288"/>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48640" y="6144768"/>
            <a:ext cx="11064240" cy="457200"/>
          </a:xfrm>
          <a:prstGeom prst="rect">
            <a:avLst/>
          </a:prstGeom>
          <a:noFill/>
        </p:spPr>
        <p:txBody>
          <a:bodyPr wrap="square">
            <a:spAutoFit/>
          </a:bodyPr>
          <a:lstStyle/>
          <a:p>
            <a:pPr algn="l"/>
            <a:r>
              <a:rPr sz="1200" b="0" i="1">
                <a:solidFill>
                  <a:srgbClr val="555555"/>
                </a:solidFill>
              </a:rPr>
              <a:t>The first two steps discover patterns on their own — no political labels were used until the very end, when we compared findings across groups.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C47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64592"/>
            <a:ext cx="11247120" cy="731520"/>
          </a:xfrm>
          <a:prstGeom prst="rect">
            <a:avLst/>
          </a:prstGeom>
          <a:noFill/>
        </p:spPr>
        <p:txBody>
          <a:bodyPr wrap="square">
            <a:spAutoFit/>
          </a:bodyPr>
          <a:lstStyle/>
          <a:p>
            <a:pPr algn="l"/>
            <a:r>
              <a:rPr sz="3400" b="1" i="0">
                <a:solidFill>
                  <a:srgbClr val="1A1A1A"/>
                </a:solidFill>
              </a:rPr>
              <a:t>How We Classified Each Bill</a:t>
            </a:r>
          </a:p>
        </p:txBody>
      </p:sp>
      <p:sp>
        <p:nvSpPr>
          <p:cNvPr id="4" name="TextBox 3"/>
          <p:cNvSpPr txBox="1"/>
          <p:nvPr/>
        </p:nvSpPr>
        <p:spPr>
          <a:xfrm>
            <a:off x="457200" y="868680"/>
            <a:ext cx="11247120" cy="411480"/>
          </a:xfrm>
          <a:prstGeom prst="rect">
            <a:avLst/>
          </a:prstGeom>
          <a:noFill/>
        </p:spPr>
        <p:txBody>
          <a:bodyPr wrap="square">
            <a:spAutoFit/>
          </a:bodyPr>
          <a:lstStyle/>
          <a:p>
            <a:pPr algn="l"/>
            <a:r>
              <a:rPr sz="1800" b="0" i="0">
                <a:solidFill>
                  <a:srgbClr val="555555"/>
                </a:solidFill>
              </a:rPr>
              <a:t>An AI model read every bill and applied a consistent three-category ruleset</a:t>
            </a:r>
          </a:p>
        </p:txBody>
      </p:sp>
      <p:sp>
        <p:nvSpPr>
          <p:cNvPr id="5" name="TextBox 4"/>
          <p:cNvSpPr txBox="1"/>
          <p:nvPr/>
        </p:nvSpPr>
        <p:spPr>
          <a:xfrm>
            <a:off x="548640" y="1325880"/>
            <a:ext cx="11064240" cy="594360"/>
          </a:xfrm>
          <a:prstGeom prst="rect">
            <a:avLst/>
          </a:prstGeom>
          <a:noFill/>
        </p:spPr>
        <p:txBody>
          <a:bodyPr wrap="square">
            <a:spAutoFit/>
          </a:bodyPr>
          <a:lstStyle/>
          <a:p>
            <a:pPr algn="l"/>
            <a:r>
              <a:rPr sz="1600" b="0" i="0">
                <a:solidFill>
                  <a:srgbClr val="1A1A1A"/>
                </a:solidFill>
              </a:rPr>
              <a:t>Each bill was sent to an AI model along with a clear set of rules. The model assigned one label and wrote a short explanation of its decision.</a:t>
            </a:r>
          </a:p>
        </p:txBody>
      </p:sp>
      <p:sp>
        <p:nvSpPr>
          <p:cNvPr id="6" name="Rectangle 5"/>
          <p:cNvSpPr/>
          <p:nvPr/>
        </p:nvSpPr>
        <p:spPr>
          <a:xfrm>
            <a:off x="548640" y="2103120"/>
            <a:ext cx="11064240" cy="10972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2103120"/>
            <a:ext cx="109728" cy="1097280"/>
          </a:xfrm>
          <a:prstGeom prst="rect">
            <a:avLst/>
          </a:prstGeom>
          <a:solidFill>
            <a:srgbClr val="B02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04672" y="2194560"/>
            <a:ext cx="2011680" cy="347472"/>
          </a:xfrm>
          <a:prstGeom prst="rect">
            <a:avLst/>
          </a:prstGeom>
          <a:noFill/>
        </p:spPr>
        <p:txBody>
          <a:bodyPr wrap="square">
            <a:spAutoFit/>
          </a:bodyPr>
          <a:lstStyle/>
          <a:p>
            <a:pPr algn="l"/>
            <a:r>
              <a:rPr sz="1500" b="1" i="0">
                <a:solidFill>
                  <a:srgbClr val="B0281A"/>
                </a:solidFill>
              </a:rPr>
              <a:t>Restrictive</a:t>
            </a:r>
          </a:p>
        </p:txBody>
      </p:sp>
      <p:sp>
        <p:nvSpPr>
          <p:cNvPr id="9" name="TextBox 8"/>
          <p:cNvSpPr txBox="1"/>
          <p:nvPr/>
        </p:nvSpPr>
        <p:spPr>
          <a:xfrm>
            <a:off x="804672" y="2560320"/>
            <a:ext cx="10607040" cy="566928"/>
          </a:xfrm>
          <a:prstGeom prst="rect">
            <a:avLst/>
          </a:prstGeom>
          <a:noFill/>
        </p:spPr>
        <p:txBody>
          <a:bodyPr wrap="square">
            <a:spAutoFit/>
          </a:bodyPr>
          <a:lstStyle/>
          <a:p>
            <a:pPr algn="l"/>
            <a:r>
              <a:rPr sz="1400" b="0" i="0">
                <a:solidFill>
                  <a:srgbClr val="1A1A1A"/>
                </a:solidFill>
              </a:rPr>
              <a:t>The bill makes it harder to vote — for example, stricter ID requirements, shorter registration windows, or reduced access to mail-in ballots.</a:t>
            </a:r>
          </a:p>
        </p:txBody>
      </p:sp>
      <p:sp>
        <p:nvSpPr>
          <p:cNvPr id="10" name="Rectangle 9"/>
          <p:cNvSpPr/>
          <p:nvPr/>
        </p:nvSpPr>
        <p:spPr>
          <a:xfrm>
            <a:off x="548640" y="3337560"/>
            <a:ext cx="11064240" cy="10972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3337560"/>
            <a:ext cx="109728" cy="1097280"/>
          </a:xfrm>
          <a:prstGeom prst="rect">
            <a:avLst/>
          </a:prstGeom>
          <a:solidFill>
            <a:srgbClr val="2C47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4672" y="3429000"/>
            <a:ext cx="2011680" cy="347472"/>
          </a:xfrm>
          <a:prstGeom prst="rect">
            <a:avLst/>
          </a:prstGeom>
          <a:noFill/>
        </p:spPr>
        <p:txBody>
          <a:bodyPr wrap="square">
            <a:spAutoFit/>
          </a:bodyPr>
          <a:lstStyle/>
          <a:p>
            <a:pPr algn="l"/>
            <a:r>
              <a:rPr sz="1500" b="1" i="0">
                <a:solidFill>
                  <a:srgbClr val="2C4770"/>
                </a:solidFill>
              </a:rPr>
              <a:t>Expansive</a:t>
            </a:r>
          </a:p>
        </p:txBody>
      </p:sp>
      <p:sp>
        <p:nvSpPr>
          <p:cNvPr id="13" name="TextBox 12"/>
          <p:cNvSpPr txBox="1"/>
          <p:nvPr/>
        </p:nvSpPr>
        <p:spPr>
          <a:xfrm>
            <a:off x="804672" y="3794760"/>
            <a:ext cx="10607040" cy="566928"/>
          </a:xfrm>
          <a:prstGeom prst="rect">
            <a:avLst/>
          </a:prstGeom>
          <a:noFill/>
        </p:spPr>
        <p:txBody>
          <a:bodyPr wrap="square">
            <a:spAutoFit/>
          </a:bodyPr>
          <a:lstStyle/>
          <a:p>
            <a:pPr algn="l"/>
            <a:r>
              <a:rPr sz="1400" b="0" i="0">
                <a:solidFill>
                  <a:srgbClr val="1A1A1A"/>
                </a:solidFill>
              </a:rPr>
              <a:t>The bill makes it easier to vote — for example, automatic voter registration, extended early voting hours, or restoring voting rights.</a:t>
            </a:r>
          </a:p>
        </p:txBody>
      </p:sp>
      <p:sp>
        <p:nvSpPr>
          <p:cNvPr id="14" name="Rectangle 13"/>
          <p:cNvSpPr/>
          <p:nvPr/>
        </p:nvSpPr>
        <p:spPr>
          <a:xfrm>
            <a:off x="548640" y="4572000"/>
            <a:ext cx="11064240" cy="10972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48640" y="4572000"/>
            <a:ext cx="109728" cy="1097280"/>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04672" y="4663440"/>
            <a:ext cx="2011680" cy="347472"/>
          </a:xfrm>
          <a:prstGeom prst="rect">
            <a:avLst/>
          </a:prstGeom>
          <a:noFill/>
        </p:spPr>
        <p:txBody>
          <a:bodyPr wrap="square">
            <a:spAutoFit/>
          </a:bodyPr>
          <a:lstStyle/>
          <a:p>
            <a:pPr algn="l"/>
            <a:r>
              <a:rPr sz="1500" b="1" i="0">
                <a:solidFill>
                  <a:srgbClr val="555555"/>
                </a:solidFill>
              </a:rPr>
              <a:t>Neutral</a:t>
            </a:r>
          </a:p>
        </p:txBody>
      </p:sp>
      <p:sp>
        <p:nvSpPr>
          <p:cNvPr id="17" name="TextBox 16"/>
          <p:cNvSpPr txBox="1"/>
          <p:nvPr/>
        </p:nvSpPr>
        <p:spPr>
          <a:xfrm>
            <a:off x="804672" y="5029200"/>
            <a:ext cx="10607040" cy="566928"/>
          </a:xfrm>
          <a:prstGeom prst="rect">
            <a:avLst/>
          </a:prstGeom>
          <a:noFill/>
        </p:spPr>
        <p:txBody>
          <a:bodyPr wrap="square">
            <a:spAutoFit/>
          </a:bodyPr>
          <a:lstStyle/>
          <a:p>
            <a:pPr algn="l"/>
            <a:r>
              <a:rPr sz="1400" b="0" i="0">
                <a:solidFill>
                  <a:srgbClr val="1A1A1A"/>
                </a:solidFill>
              </a:rPr>
              <a:t>The bill makes administrative or procedural changes that don't clearly help or hurt voter access — for example, updating forms or renaming offices.</a:t>
            </a:r>
          </a:p>
        </p:txBody>
      </p:sp>
      <p:sp>
        <p:nvSpPr>
          <p:cNvPr id="18" name="Rectangle 17"/>
          <p:cNvSpPr/>
          <p:nvPr/>
        </p:nvSpPr>
        <p:spPr>
          <a:xfrm>
            <a:off x="457200" y="5806440"/>
            <a:ext cx="11274552" cy="18288"/>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48640" y="5925312"/>
            <a:ext cx="11064240" cy="457200"/>
          </a:xfrm>
          <a:prstGeom prst="rect">
            <a:avLst/>
          </a:prstGeom>
          <a:noFill/>
        </p:spPr>
        <p:txBody>
          <a:bodyPr wrap="square">
            <a:spAutoFit/>
          </a:bodyPr>
          <a:lstStyle/>
          <a:p>
            <a:pPr algn="l"/>
            <a:r>
              <a:rPr sz="1200" b="0" i="1">
                <a:solidFill>
                  <a:srgbClr val="555555"/>
                </a:solidFill>
              </a:rPr>
              <a:t>All 51 bills were classified successfully. The AI also flagged which specific provision drove its decision, making results easy to spot-check.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C47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64592"/>
            <a:ext cx="11247120" cy="731520"/>
          </a:xfrm>
          <a:prstGeom prst="rect">
            <a:avLst/>
          </a:prstGeom>
          <a:noFill/>
        </p:spPr>
        <p:txBody>
          <a:bodyPr wrap="square">
            <a:spAutoFit/>
          </a:bodyPr>
          <a:lstStyle/>
          <a:p>
            <a:pPr algn="l"/>
            <a:r>
              <a:rPr sz="3400" b="1" i="0">
                <a:solidFill>
                  <a:srgbClr val="1A1A1A"/>
                </a:solidFill>
              </a:rPr>
              <a:t>Checking the AI's Work</a:t>
            </a:r>
          </a:p>
        </p:txBody>
      </p:sp>
      <p:sp>
        <p:nvSpPr>
          <p:cNvPr id="4" name="TextBox 3"/>
          <p:cNvSpPr txBox="1"/>
          <p:nvPr/>
        </p:nvSpPr>
        <p:spPr>
          <a:xfrm>
            <a:off x="457200" y="868680"/>
            <a:ext cx="11247120" cy="411480"/>
          </a:xfrm>
          <a:prstGeom prst="rect">
            <a:avLst/>
          </a:prstGeom>
          <a:noFill/>
        </p:spPr>
        <p:txBody>
          <a:bodyPr wrap="square">
            <a:spAutoFit/>
          </a:bodyPr>
          <a:lstStyle/>
          <a:p>
            <a:pPr algn="l"/>
            <a:r>
              <a:rPr sz="1800" b="0" i="0">
                <a:solidFill>
                  <a:srgbClr val="555555"/>
                </a:solidFill>
              </a:rPr>
              <a:t>A human reviewer independently classified 10 bills to verify the AI's accuracy</a:t>
            </a:r>
          </a:p>
        </p:txBody>
      </p:sp>
      <p:sp>
        <p:nvSpPr>
          <p:cNvPr id="5" name="TextBox 4"/>
          <p:cNvSpPr txBox="1"/>
          <p:nvPr/>
        </p:nvSpPr>
        <p:spPr>
          <a:xfrm>
            <a:off x="548640" y="1325880"/>
            <a:ext cx="5394960" cy="365760"/>
          </a:xfrm>
          <a:prstGeom prst="rect">
            <a:avLst/>
          </a:prstGeom>
          <a:noFill/>
        </p:spPr>
        <p:txBody>
          <a:bodyPr wrap="square">
            <a:spAutoFit/>
          </a:bodyPr>
          <a:lstStyle/>
          <a:p>
            <a:pPr algn="l"/>
            <a:r>
              <a:rPr sz="1500" b="1" i="0">
                <a:solidFill>
                  <a:srgbClr val="2C4770"/>
                </a:solidFill>
              </a:rPr>
              <a:t>How we checked it</a:t>
            </a:r>
          </a:p>
        </p:txBody>
      </p:sp>
      <p:sp>
        <p:nvSpPr>
          <p:cNvPr id="6" name="TextBox 5"/>
          <p:cNvSpPr txBox="1"/>
          <p:nvPr/>
        </p:nvSpPr>
        <p:spPr>
          <a:xfrm>
            <a:off x="548640" y="1783080"/>
            <a:ext cx="5394960" cy="2103120"/>
          </a:xfrm>
          <a:prstGeom prst="rect">
            <a:avLst/>
          </a:prstGeom>
          <a:noFill/>
        </p:spPr>
        <p:txBody>
          <a:bodyPr wrap="square">
            <a:spAutoFit/>
          </a:bodyPr>
          <a:lstStyle/>
          <a:p>
            <a:pPr algn="l"/>
            <a:r>
              <a:rPr sz="1400" b="0" i="0">
                <a:solidFill>
                  <a:srgbClr val="1A1A1A"/>
                </a:solidFill>
              </a:rPr>
              <a:t>We randomly selected 10 bills — drawn from all three political groups — and had a human reviewer classify each one using the same ruleset as the AI.
The reviewer did not see what the AI had decided. After coding was complete, we compared the two sets of labels to measure how often they agreed.</a:t>
            </a:r>
          </a:p>
        </p:txBody>
      </p:sp>
      <p:sp>
        <p:nvSpPr>
          <p:cNvPr id="7" name="TextBox 6"/>
          <p:cNvSpPr txBox="1"/>
          <p:nvPr/>
        </p:nvSpPr>
        <p:spPr>
          <a:xfrm>
            <a:off x="548640" y="4023360"/>
            <a:ext cx="5394960" cy="365760"/>
          </a:xfrm>
          <a:prstGeom prst="rect">
            <a:avLst/>
          </a:prstGeom>
          <a:noFill/>
        </p:spPr>
        <p:txBody>
          <a:bodyPr wrap="square">
            <a:spAutoFit/>
          </a:bodyPr>
          <a:lstStyle/>
          <a:p>
            <a:pPr algn="l"/>
            <a:r>
              <a:rPr sz="1500" b="1" i="0">
                <a:solidFill>
                  <a:srgbClr val="2C4770"/>
                </a:solidFill>
              </a:rPr>
              <a:t>Where they disagreed</a:t>
            </a:r>
          </a:p>
        </p:txBody>
      </p:sp>
      <p:sp>
        <p:nvSpPr>
          <p:cNvPr id="8" name="TextBox 7"/>
          <p:cNvSpPr txBox="1"/>
          <p:nvPr/>
        </p:nvSpPr>
        <p:spPr>
          <a:xfrm>
            <a:off x="548640" y="4434840"/>
            <a:ext cx="5394960" cy="1463040"/>
          </a:xfrm>
          <a:prstGeom prst="rect">
            <a:avLst/>
          </a:prstGeom>
          <a:noFill/>
        </p:spPr>
        <p:txBody>
          <a:bodyPr wrap="square">
            <a:spAutoFit/>
          </a:bodyPr>
          <a:lstStyle/>
          <a:p>
            <a:pPr algn="l"/>
            <a:r>
              <a:rPr sz="1400" b="0" i="0">
                <a:solidFill>
                  <a:srgbClr val="555555"/>
                </a:solidFill>
              </a:rPr>
              <a:t>One bill (HB1871, Missouri): the AI called it Restrictive because it added new procedural steps. The human called it Neutral, reading those same steps as routine scheduling changes with no real impact on voters. Both interpretations are defensible — it is a genuine edge case in the ruleset.</a:t>
            </a:r>
          </a:p>
        </p:txBody>
      </p:sp>
      <p:sp>
        <p:nvSpPr>
          <p:cNvPr id="9" name="Rectangle 8"/>
          <p:cNvSpPr/>
          <p:nvPr/>
        </p:nvSpPr>
        <p:spPr>
          <a:xfrm>
            <a:off x="6263640" y="1325880"/>
            <a:ext cx="18288" cy="466344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92240" y="1325880"/>
            <a:ext cx="5303520" cy="365760"/>
          </a:xfrm>
          <a:prstGeom prst="rect">
            <a:avLst/>
          </a:prstGeom>
          <a:noFill/>
        </p:spPr>
        <p:txBody>
          <a:bodyPr wrap="square">
            <a:spAutoFit/>
          </a:bodyPr>
          <a:lstStyle/>
          <a:p>
            <a:pPr algn="l"/>
            <a:r>
              <a:rPr sz="1500" b="1" i="0">
                <a:solidFill>
                  <a:srgbClr val="2C4770"/>
                </a:solidFill>
              </a:rPr>
              <a:t>Validation Results</a:t>
            </a:r>
          </a:p>
        </p:txBody>
      </p:sp>
      <p:sp>
        <p:nvSpPr>
          <p:cNvPr id="11" name="Rectangle 10"/>
          <p:cNvSpPr/>
          <p:nvPr/>
        </p:nvSpPr>
        <p:spPr>
          <a:xfrm>
            <a:off x="6492240" y="1810512"/>
            <a:ext cx="5257800" cy="475488"/>
          </a:xfrm>
          <a:prstGeom prst="rect">
            <a:avLst/>
          </a:prstGeom>
          <a:solidFill>
            <a:srgbClr val="2C4770"/>
          </a:solidFill>
          <a:ln>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01968" y="1901952"/>
            <a:ext cx="2532888" cy="365760"/>
          </a:xfrm>
          <a:prstGeom prst="rect">
            <a:avLst/>
          </a:prstGeom>
          <a:noFill/>
        </p:spPr>
        <p:txBody>
          <a:bodyPr wrap="square">
            <a:spAutoFit/>
          </a:bodyPr>
          <a:lstStyle/>
          <a:p>
            <a:pPr algn="l"/>
            <a:r>
              <a:rPr sz="1400" b="1" i="0">
                <a:solidFill>
                  <a:srgbClr val="FFFFFF"/>
                </a:solidFill>
              </a:rPr>
              <a:t>Measure</a:t>
            </a:r>
          </a:p>
        </p:txBody>
      </p:sp>
      <p:sp>
        <p:nvSpPr>
          <p:cNvPr id="13" name="TextBox 12"/>
          <p:cNvSpPr txBox="1"/>
          <p:nvPr/>
        </p:nvSpPr>
        <p:spPr>
          <a:xfrm>
            <a:off x="9390888" y="1901952"/>
            <a:ext cx="2395727" cy="365760"/>
          </a:xfrm>
          <a:prstGeom prst="rect">
            <a:avLst/>
          </a:prstGeom>
          <a:noFill/>
        </p:spPr>
        <p:txBody>
          <a:bodyPr wrap="square">
            <a:spAutoFit/>
          </a:bodyPr>
          <a:lstStyle/>
          <a:p>
            <a:pPr algn="l"/>
            <a:r>
              <a:rPr sz="1400" b="1" i="0">
                <a:solidFill>
                  <a:srgbClr val="FFFFFF"/>
                </a:solidFill>
              </a:rPr>
              <a:t>Result</a:t>
            </a:r>
          </a:p>
        </p:txBody>
      </p:sp>
      <p:sp>
        <p:nvSpPr>
          <p:cNvPr id="14" name="Rectangle 13"/>
          <p:cNvSpPr/>
          <p:nvPr/>
        </p:nvSpPr>
        <p:spPr>
          <a:xfrm>
            <a:off x="6492240" y="2286000"/>
            <a:ext cx="5257800" cy="475488"/>
          </a:xfrm>
          <a:prstGeom prst="rect">
            <a:avLst/>
          </a:prstGeom>
          <a:solidFill>
            <a:srgbClr val="FFFFFF"/>
          </a:solidFill>
          <a:ln>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601968" y="2377440"/>
            <a:ext cx="2532888" cy="365760"/>
          </a:xfrm>
          <a:prstGeom prst="rect">
            <a:avLst/>
          </a:prstGeom>
          <a:noFill/>
        </p:spPr>
        <p:txBody>
          <a:bodyPr wrap="square">
            <a:spAutoFit/>
          </a:bodyPr>
          <a:lstStyle/>
          <a:p>
            <a:pPr algn="l"/>
            <a:r>
              <a:rPr sz="1400" b="0" i="0">
                <a:solidFill>
                  <a:srgbClr val="1A1A1A"/>
                </a:solidFill>
              </a:rPr>
              <a:t>Bills reviewed</a:t>
            </a:r>
          </a:p>
        </p:txBody>
      </p:sp>
      <p:sp>
        <p:nvSpPr>
          <p:cNvPr id="16" name="TextBox 15"/>
          <p:cNvSpPr txBox="1"/>
          <p:nvPr/>
        </p:nvSpPr>
        <p:spPr>
          <a:xfrm>
            <a:off x="9390888" y="2377440"/>
            <a:ext cx="2395727" cy="365760"/>
          </a:xfrm>
          <a:prstGeom prst="rect">
            <a:avLst/>
          </a:prstGeom>
          <a:noFill/>
        </p:spPr>
        <p:txBody>
          <a:bodyPr wrap="square">
            <a:spAutoFit/>
          </a:bodyPr>
          <a:lstStyle/>
          <a:p>
            <a:pPr algn="l"/>
            <a:r>
              <a:rPr sz="1400" b="0" i="0">
                <a:solidFill>
                  <a:srgbClr val="1A1A1A"/>
                </a:solidFill>
              </a:rPr>
              <a:t>10</a:t>
            </a:r>
          </a:p>
        </p:txBody>
      </p:sp>
      <p:sp>
        <p:nvSpPr>
          <p:cNvPr id="17" name="Rectangle 16"/>
          <p:cNvSpPr/>
          <p:nvPr/>
        </p:nvSpPr>
        <p:spPr>
          <a:xfrm>
            <a:off x="6492240" y="2761488"/>
            <a:ext cx="5257800" cy="475488"/>
          </a:xfrm>
          <a:prstGeom prst="rect">
            <a:avLst/>
          </a:prstGeom>
          <a:solidFill>
            <a:srgbClr val="F5F5F5"/>
          </a:solidFill>
          <a:ln>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601968" y="2852928"/>
            <a:ext cx="2532888" cy="365760"/>
          </a:xfrm>
          <a:prstGeom prst="rect">
            <a:avLst/>
          </a:prstGeom>
          <a:noFill/>
        </p:spPr>
        <p:txBody>
          <a:bodyPr wrap="square">
            <a:spAutoFit/>
          </a:bodyPr>
          <a:lstStyle/>
          <a:p>
            <a:pPr algn="l"/>
            <a:r>
              <a:rPr sz="1400" b="0" i="0">
                <a:solidFill>
                  <a:srgbClr val="1A1A1A"/>
                </a:solidFill>
              </a:rPr>
              <a:t>Agreement</a:t>
            </a:r>
          </a:p>
        </p:txBody>
      </p:sp>
      <p:sp>
        <p:nvSpPr>
          <p:cNvPr id="19" name="TextBox 18"/>
          <p:cNvSpPr txBox="1"/>
          <p:nvPr/>
        </p:nvSpPr>
        <p:spPr>
          <a:xfrm>
            <a:off x="9390888" y="2852928"/>
            <a:ext cx="2395727" cy="365760"/>
          </a:xfrm>
          <a:prstGeom prst="rect">
            <a:avLst/>
          </a:prstGeom>
          <a:noFill/>
        </p:spPr>
        <p:txBody>
          <a:bodyPr wrap="square">
            <a:spAutoFit/>
          </a:bodyPr>
          <a:lstStyle/>
          <a:p>
            <a:pPr algn="l"/>
            <a:r>
              <a:rPr sz="1400" b="0" i="0">
                <a:solidFill>
                  <a:srgbClr val="1A1A1A"/>
                </a:solidFill>
              </a:rPr>
              <a:t>9 out of 10  (90%)</a:t>
            </a:r>
          </a:p>
        </p:txBody>
      </p:sp>
      <p:sp>
        <p:nvSpPr>
          <p:cNvPr id="20" name="Rectangle 19"/>
          <p:cNvSpPr/>
          <p:nvPr/>
        </p:nvSpPr>
        <p:spPr>
          <a:xfrm>
            <a:off x="6492240" y="3236976"/>
            <a:ext cx="5257800" cy="475488"/>
          </a:xfrm>
          <a:prstGeom prst="rect">
            <a:avLst/>
          </a:prstGeom>
          <a:solidFill>
            <a:srgbClr val="FFFFFF"/>
          </a:solidFill>
          <a:ln>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601968" y="3328416"/>
            <a:ext cx="2532888" cy="365760"/>
          </a:xfrm>
          <a:prstGeom prst="rect">
            <a:avLst/>
          </a:prstGeom>
          <a:noFill/>
        </p:spPr>
        <p:txBody>
          <a:bodyPr wrap="square">
            <a:spAutoFit/>
          </a:bodyPr>
          <a:lstStyle/>
          <a:p>
            <a:pPr algn="l"/>
            <a:r>
              <a:rPr sz="1400" b="1" i="0">
                <a:solidFill>
                  <a:srgbClr val="2C4770"/>
                </a:solidFill>
              </a:rPr>
              <a:t>Agreement score (κ)</a:t>
            </a:r>
          </a:p>
        </p:txBody>
      </p:sp>
      <p:sp>
        <p:nvSpPr>
          <p:cNvPr id="22" name="TextBox 21"/>
          <p:cNvSpPr txBox="1"/>
          <p:nvPr/>
        </p:nvSpPr>
        <p:spPr>
          <a:xfrm>
            <a:off x="9390888" y="3328416"/>
            <a:ext cx="2395727" cy="365760"/>
          </a:xfrm>
          <a:prstGeom prst="rect">
            <a:avLst/>
          </a:prstGeom>
          <a:noFill/>
        </p:spPr>
        <p:txBody>
          <a:bodyPr wrap="square">
            <a:spAutoFit/>
          </a:bodyPr>
          <a:lstStyle/>
          <a:p>
            <a:pPr algn="l"/>
            <a:r>
              <a:rPr sz="1400" b="1" i="0">
                <a:solidFill>
                  <a:srgbClr val="2C4770"/>
                </a:solidFill>
              </a:rPr>
              <a:t>0.831</a:t>
            </a:r>
          </a:p>
        </p:txBody>
      </p:sp>
      <p:sp>
        <p:nvSpPr>
          <p:cNvPr id="23" name="Rectangle 22"/>
          <p:cNvSpPr/>
          <p:nvPr/>
        </p:nvSpPr>
        <p:spPr>
          <a:xfrm>
            <a:off x="6492240" y="3712464"/>
            <a:ext cx="5257800" cy="475488"/>
          </a:xfrm>
          <a:prstGeom prst="rect">
            <a:avLst/>
          </a:prstGeom>
          <a:solidFill>
            <a:srgbClr val="F5F5F5"/>
          </a:solidFill>
          <a:ln>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601968" y="3803904"/>
            <a:ext cx="2532888" cy="365760"/>
          </a:xfrm>
          <a:prstGeom prst="rect">
            <a:avLst/>
          </a:prstGeom>
          <a:noFill/>
        </p:spPr>
        <p:txBody>
          <a:bodyPr wrap="square">
            <a:spAutoFit/>
          </a:bodyPr>
          <a:lstStyle/>
          <a:p>
            <a:pPr algn="l"/>
            <a:r>
              <a:rPr sz="1400" b="0" i="0">
                <a:solidFill>
                  <a:srgbClr val="1A1A1A"/>
                </a:solidFill>
              </a:rPr>
              <a:t>What that means</a:t>
            </a:r>
          </a:p>
        </p:txBody>
      </p:sp>
      <p:sp>
        <p:nvSpPr>
          <p:cNvPr id="25" name="TextBox 24"/>
          <p:cNvSpPr txBox="1"/>
          <p:nvPr/>
        </p:nvSpPr>
        <p:spPr>
          <a:xfrm>
            <a:off x="9390888" y="3803904"/>
            <a:ext cx="2395727" cy="365760"/>
          </a:xfrm>
          <a:prstGeom prst="rect">
            <a:avLst/>
          </a:prstGeom>
          <a:noFill/>
        </p:spPr>
        <p:txBody>
          <a:bodyPr wrap="square">
            <a:spAutoFit/>
          </a:bodyPr>
          <a:lstStyle/>
          <a:p>
            <a:pPr algn="l"/>
            <a:r>
              <a:rPr sz="1400" b="0" i="0">
                <a:solidFill>
                  <a:srgbClr val="1A1A1A"/>
                </a:solidFill>
              </a:rPr>
              <a:t>Almost perfect agreement</a:t>
            </a:r>
          </a:p>
        </p:txBody>
      </p:sp>
      <p:sp>
        <p:nvSpPr>
          <p:cNvPr id="26" name="Rectangle 25"/>
          <p:cNvSpPr/>
          <p:nvPr/>
        </p:nvSpPr>
        <p:spPr>
          <a:xfrm>
            <a:off x="6492240" y="4187952"/>
            <a:ext cx="5257800" cy="475488"/>
          </a:xfrm>
          <a:prstGeom prst="rect">
            <a:avLst/>
          </a:prstGeom>
          <a:solidFill>
            <a:srgbClr val="FFFFFF"/>
          </a:solidFill>
          <a:ln>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601968" y="4279392"/>
            <a:ext cx="2532888" cy="365760"/>
          </a:xfrm>
          <a:prstGeom prst="rect">
            <a:avLst/>
          </a:prstGeom>
          <a:noFill/>
        </p:spPr>
        <p:txBody>
          <a:bodyPr wrap="square">
            <a:spAutoFit/>
          </a:bodyPr>
          <a:lstStyle/>
          <a:p>
            <a:pPr algn="l"/>
            <a:r>
              <a:rPr sz="1400" b="0" i="0">
                <a:solidFill>
                  <a:srgbClr val="1A1A1A"/>
                </a:solidFill>
              </a:rPr>
              <a:t>Passed threshold?</a:t>
            </a:r>
          </a:p>
        </p:txBody>
      </p:sp>
      <p:sp>
        <p:nvSpPr>
          <p:cNvPr id="28" name="TextBox 27"/>
          <p:cNvSpPr txBox="1"/>
          <p:nvPr/>
        </p:nvSpPr>
        <p:spPr>
          <a:xfrm>
            <a:off x="9390888" y="4279392"/>
            <a:ext cx="2395727" cy="365760"/>
          </a:xfrm>
          <a:prstGeom prst="rect">
            <a:avLst/>
          </a:prstGeom>
          <a:noFill/>
        </p:spPr>
        <p:txBody>
          <a:bodyPr wrap="square">
            <a:spAutoFit/>
          </a:bodyPr>
          <a:lstStyle/>
          <a:p>
            <a:pPr algn="l"/>
            <a:r>
              <a:rPr sz="1400" b="0" i="0">
                <a:solidFill>
                  <a:srgbClr val="1A1A1A"/>
                </a:solidFill>
              </a:rPr>
              <a:t>Yes  (target: ≥ 0.61)</a:t>
            </a:r>
          </a:p>
        </p:txBody>
      </p:sp>
      <p:sp>
        <p:nvSpPr>
          <p:cNvPr id="29" name="TextBox 28"/>
          <p:cNvSpPr txBox="1"/>
          <p:nvPr/>
        </p:nvSpPr>
        <p:spPr>
          <a:xfrm>
            <a:off x="6492240" y="4800600"/>
            <a:ext cx="5303520" cy="822960"/>
          </a:xfrm>
          <a:prstGeom prst="rect">
            <a:avLst/>
          </a:prstGeom>
          <a:noFill/>
        </p:spPr>
        <p:txBody>
          <a:bodyPr wrap="square">
            <a:spAutoFit/>
          </a:bodyPr>
          <a:lstStyle/>
          <a:p>
            <a:pPr algn="l"/>
            <a:r>
              <a:rPr sz="1300" b="0" i="1">
                <a:solidFill>
                  <a:srgbClr val="555555"/>
                </a:solidFill>
              </a:rPr>
              <a:t>A score above 0.81 is considered "almost perfect" agreement — meaning the AI and the human were reading the bills the same way.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C47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64592"/>
            <a:ext cx="11247120" cy="731520"/>
          </a:xfrm>
          <a:prstGeom prst="rect">
            <a:avLst/>
          </a:prstGeom>
          <a:noFill/>
        </p:spPr>
        <p:txBody>
          <a:bodyPr wrap="square">
            <a:spAutoFit/>
          </a:bodyPr>
          <a:lstStyle/>
          <a:p>
            <a:pPr algn="l"/>
            <a:r>
              <a:rPr sz="3400" b="1" i="0">
                <a:solidFill>
                  <a:srgbClr val="1A1A1A"/>
                </a:solidFill>
              </a:rPr>
              <a:t>Finding 1: Each Group Uses a Different Political Vocabulary</a:t>
            </a:r>
          </a:p>
        </p:txBody>
      </p:sp>
      <p:sp>
        <p:nvSpPr>
          <p:cNvPr id="4" name="TextBox 3"/>
          <p:cNvSpPr txBox="1"/>
          <p:nvPr/>
        </p:nvSpPr>
        <p:spPr>
          <a:xfrm>
            <a:off x="457200" y="868680"/>
            <a:ext cx="11247120" cy="411480"/>
          </a:xfrm>
          <a:prstGeom prst="rect">
            <a:avLst/>
          </a:prstGeom>
          <a:noFill/>
        </p:spPr>
        <p:txBody>
          <a:bodyPr wrap="square">
            <a:spAutoFit/>
          </a:bodyPr>
          <a:lstStyle/>
          <a:p>
            <a:pPr algn="l"/>
            <a:r>
              <a:rPr sz="1800" b="0" i="0">
                <a:solidFill>
                  <a:srgbClr val="555555"/>
                </a:solidFill>
              </a:rPr>
              <a:t>Words most strongly associated with each group — terms common to all three groups are excluded</a:t>
            </a:r>
          </a:p>
        </p:txBody>
      </p:sp>
      <p:sp>
        <p:nvSpPr>
          <p:cNvPr id="5" name="Rectangle 4"/>
          <p:cNvSpPr/>
          <p:nvPr/>
        </p:nvSpPr>
        <p:spPr>
          <a:xfrm>
            <a:off x="320040" y="1399032"/>
            <a:ext cx="3749039" cy="411480"/>
          </a:xfrm>
          <a:prstGeom prst="rect">
            <a:avLst/>
          </a:prstGeom>
          <a:solidFill>
            <a:srgbClr val="B02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11479" y="1417320"/>
            <a:ext cx="3566160" cy="347472"/>
          </a:xfrm>
          <a:prstGeom prst="rect">
            <a:avLst/>
          </a:prstGeom>
          <a:noFill/>
        </p:spPr>
        <p:txBody>
          <a:bodyPr wrap="square">
            <a:spAutoFit/>
          </a:bodyPr>
          <a:lstStyle/>
          <a:p>
            <a:pPr algn="l"/>
            <a:r>
              <a:rPr sz="1400" b="1" i="0">
                <a:solidFill>
                  <a:srgbClr val="FFFFFF"/>
                </a:solidFill>
              </a:rPr>
              <a:t>Republican States</a:t>
            </a:r>
          </a:p>
        </p:txBody>
      </p:sp>
      <p:sp>
        <p:nvSpPr>
          <p:cNvPr id="7" name="Rectangle 6"/>
          <p:cNvSpPr/>
          <p:nvPr/>
        </p:nvSpPr>
        <p:spPr>
          <a:xfrm>
            <a:off x="320040" y="1828800"/>
            <a:ext cx="3749039" cy="521207"/>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1479" y="1920240"/>
            <a:ext cx="1234440" cy="402336"/>
          </a:xfrm>
          <a:prstGeom prst="rect">
            <a:avLst/>
          </a:prstGeom>
          <a:noFill/>
        </p:spPr>
        <p:txBody>
          <a:bodyPr wrap="square">
            <a:spAutoFit/>
          </a:bodyPr>
          <a:lstStyle/>
          <a:p>
            <a:pPr algn="l"/>
            <a:r>
              <a:rPr sz="1300" b="0" i="0">
                <a:solidFill>
                  <a:srgbClr val="1A1A1A"/>
                </a:solidFill>
              </a:rPr>
              <a:t>Elector</a:t>
            </a:r>
          </a:p>
        </p:txBody>
      </p:sp>
      <p:sp>
        <p:nvSpPr>
          <p:cNvPr id="9" name="Rectangle 8"/>
          <p:cNvSpPr/>
          <p:nvPr/>
        </p:nvSpPr>
        <p:spPr>
          <a:xfrm>
            <a:off x="1645920" y="1938528"/>
            <a:ext cx="2331720" cy="310896"/>
          </a:xfrm>
          <a:prstGeom prst="rect">
            <a:avLst/>
          </a:prstGeom>
          <a:solidFill>
            <a:srgbClr val="B02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20040" y="2395728"/>
            <a:ext cx="3749039" cy="52120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11479" y="2487168"/>
            <a:ext cx="1234440" cy="402336"/>
          </a:xfrm>
          <a:prstGeom prst="rect">
            <a:avLst/>
          </a:prstGeom>
          <a:noFill/>
        </p:spPr>
        <p:txBody>
          <a:bodyPr wrap="square">
            <a:spAutoFit/>
          </a:bodyPr>
          <a:lstStyle/>
          <a:p>
            <a:pPr algn="l"/>
            <a:r>
              <a:rPr sz="1300" b="0" i="0">
                <a:solidFill>
                  <a:srgbClr val="1A1A1A"/>
                </a:solidFill>
              </a:rPr>
              <a:t>Provision</a:t>
            </a:r>
          </a:p>
        </p:txBody>
      </p:sp>
      <p:sp>
        <p:nvSpPr>
          <p:cNvPr id="12" name="Rectangle 11"/>
          <p:cNvSpPr/>
          <p:nvPr/>
        </p:nvSpPr>
        <p:spPr>
          <a:xfrm>
            <a:off x="1645920" y="2505456"/>
            <a:ext cx="1385291" cy="310896"/>
          </a:xfrm>
          <a:prstGeom prst="rect">
            <a:avLst/>
          </a:prstGeom>
          <a:solidFill>
            <a:srgbClr val="B02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20040" y="2962656"/>
            <a:ext cx="3749039" cy="521207"/>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11479" y="3054096"/>
            <a:ext cx="1234440" cy="402336"/>
          </a:xfrm>
          <a:prstGeom prst="rect">
            <a:avLst/>
          </a:prstGeom>
          <a:noFill/>
        </p:spPr>
        <p:txBody>
          <a:bodyPr wrap="square">
            <a:spAutoFit/>
          </a:bodyPr>
          <a:lstStyle/>
          <a:p>
            <a:pPr algn="l"/>
            <a:r>
              <a:rPr sz="1300" b="0" i="0">
                <a:solidFill>
                  <a:srgbClr val="1A1A1A"/>
                </a:solidFill>
              </a:rPr>
              <a:t>Falsif</a:t>
            </a:r>
          </a:p>
        </p:txBody>
      </p:sp>
      <p:sp>
        <p:nvSpPr>
          <p:cNvPr id="15" name="Rectangle 14"/>
          <p:cNvSpPr/>
          <p:nvPr/>
        </p:nvSpPr>
        <p:spPr>
          <a:xfrm>
            <a:off x="1645920" y="3072384"/>
            <a:ext cx="572163" cy="310896"/>
          </a:xfrm>
          <a:prstGeom prst="rect">
            <a:avLst/>
          </a:prstGeom>
          <a:solidFill>
            <a:srgbClr val="B02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20040" y="3529584"/>
            <a:ext cx="3749039" cy="52120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11479" y="3621024"/>
            <a:ext cx="1234440" cy="402336"/>
          </a:xfrm>
          <a:prstGeom prst="rect">
            <a:avLst/>
          </a:prstGeom>
          <a:noFill/>
        </p:spPr>
        <p:txBody>
          <a:bodyPr wrap="square">
            <a:spAutoFit/>
          </a:bodyPr>
          <a:lstStyle/>
          <a:p>
            <a:pPr algn="l"/>
            <a:r>
              <a:rPr sz="1300" b="0" i="0">
                <a:solidFill>
                  <a:srgbClr val="1A1A1A"/>
                </a:solidFill>
              </a:rPr>
              <a:t>Circul</a:t>
            </a:r>
          </a:p>
        </p:txBody>
      </p:sp>
      <p:sp>
        <p:nvSpPr>
          <p:cNvPr id="18" name="Rectangle 17"/>
          <p:cNvSpPr/>
          <p:nvPr/>
        </p:nvSpPr>
        <p:spPr>
          <a:xfrm>
            <a:off x="1645920" y="3639312"/>
            <a:ext cx="417330" cy="310896"/>
          </a:xfrm>
          <a:prstGeom prst="rect">
            <a:avLst/>
          </a:prstGeom>
          <a:solidFill>
            <a:srgbClr val="B02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20040" y="4096512"/>
            <a:ext cx="3749039" cy="521207"/>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11479" y="4187952"/>
            <a:ext cx="1234440" cy="402336"/>
          </a:xfrm>
          <a:prstGeom prst="rect">
            <a:avLst/>
          </a:prstGeom>
          <a:noFill/>
        </p:spPr>
        <p:txBody>
          <a:bodyPr wrap="square">
            <a:spAutoFit/>
          </a:bodyPr>
          <a:lstStyle/>
          <a:p>
            <a:pPr algn="l"/>
            <a:r>
              <a:rPr sz="1300" b="0" i="0">
                <a:solidFill>
                  <a:srgbClr val="1A1A1A"/>
                </a:solidFill>
              </a:rPr>
              <a:t>Signatur</a:t>
            </a:r>
          </a:p>
        </p:txBody>
      </p:sp>
      <p:sp>
        <p:nvSpPr>
          <p:cNvPr id="21" name="Rectangle 20"/>
          <p:cNvSpPr/>
          <p:nvPr/>
        </p:nvSpPr>
        <p:spPr>
          <a:xfrm>
            <a:off x="1645920" y="4206240"/>
            <a:ext cx="348630" cy="310896"/>
          </a:xfrm>
          <a:prstGeom prst="rect">
            <a:avLst/>
          </a:prstGeom>
          <a:solidFill>
            <a:srgbClr val="B02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320040" y="4663440"/>
            <a:ext cx="3749039" cy="52120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79" y="4754879"/>
            <a:ext cx="1234440" cy="402336"/>
          </a:xfrm>
          <a:prstGeom prst="rect">
            <a:avLst/>
          </a:prstGeom>
          <a:noFill/>
        </p:spPr>
        <p:txBody>
          <a:bodyPr wrap="square">
            <a:spAutoFit/>
          </a:bodyPr>
          <a:lstStyle/>
          <a:p>
            <a:pPr algn="l"/>
            <a:r>
              <a:rPr sz="1300" b="0" i="0">
                <a:solidFill>
                  <a:srgbClr val="1A1A1A"/>
                </a:solidFill>
              </a:rPr>
              <a:t>Township</a:t>
            </a:r>
          </a:p>
        </p:txBody>
      </p:sp>
      <p:sp>
        <p:nvSpPr>
          <p:cNvPr id="24" name="Rectangle 23"/>
          <p:cNvSpPr/>
          <p:nvPr/>
        </p:nvSpPr>
        <p:spPr>
          <a:xfrm>
            <a:off x="1645920" y="4773168"/>
            <a:ext cx="367086" cy="310896"/>
          </a:xfrm>
          <a:prstGeom prst="rect">
            <a:avLst/>
          </a:prstGeom>
          <a:solidFill>
            <a:srgbClr val="B02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320040" y="5230368"/>
            <a:ext cx="3749039" cy="521207"/>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11479" y="5321807"/>
            <a:ext cx="1234440" cy="402336"/>
          </a:xfrm>
          <a:prstGeom prst="rect">
            <a:avLst/>
          </a:prstGeom>
          <a:noFill/>
        </p:spPr>
        <p:txBody>
          <a:bodyPr wrap="square">
            <a:spAutoFit/>
          </a:bodyPr>
          <a:lstStyle/>
          <a:p>
            <a:pPr algn="l"/>
            <a:r>
              <a:rPr sz="1300" b="0" i="0">
                <a:solidFill>
                  <a:srgbClr val="1A1A1A"/>
                </a:solidFill>
              </a:rPr>
              <a:t>Tuesday</a:t>
            </a:r>
          </a:p>
        </p:txBody>
      </p:sp>
      <p:sp>
        <p:nvSpPr>
          <p:cNvPr id="27" name="Rectangle 26"/>
          <p:cNvSpPr/>
          <p:nvPr/>
        </p:nvSpPr>
        <p:spPr>
          <a:xfrm>
            <a:off x="1645920" y="5340096"/>
            <a:ext cx="435787" cy="310896"/>
          </a:xfrm>
          <a:prstGeom prst="rect">
            <a:avLst/>
          </a:prstGeom>
          <a:solidFill>
            <a:srgbClr val="B02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4160520" y="1399032"/>
            <a:ext cx="3749039" cy="411480"/>
          </a:xfrm>
          <a:prstGeom prst="rect">
            <a:avLst/>
          </a:prstGeom>
          <a:solidFill>
            <a:srgbClr val="2C47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251959" y="1417320"/>
            <a:ext cx="3566160" cy="347472"/>
          </a:xfrm>
          <a:prstGeom prst="rect">
            <a:avLst/>
          </a:prstGeom>
          <a:noFill/>
        </p:spPr>
        <p:txBody>
          <a:bodyPr wrap="square">
            <a:spAutoFit/>
          </a:bodyPr>
          <a:lstStyle/>
          <a:p>
            <a:pPr algn="l"/>
            <a:r>
              <a:rPr sz="1400" b="1" i="0">
                <a:solidFill>
                  <a:srgbClr val="FFFFFF"/>
                </a:solidFill>
              </a:rPr>
              <a:t>Democratic States</a:t>
            </a:r>
          </a:p>
        </p:txBody>
      </p:sp>
      <p:sp>
        <p:nvSpPr>
          <p:cNvPr id="30" name="Rectangle 29"/>
          <p:cNvSpPr/>
          <p:nvPr/>
        </p:nvSpPr>
        <p:spPr>
          <a:xfrm>
            <a:off x="4160520" y="1828800"/>
            <a:ext cx="3749039" cy="521207"/>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251959" y="1920240"/>
            <a:ext cx="1234440" cy="402336"/>
          </a:xfrm>
          <a:prstGeom prst="rect">
            <a:avLst/>
          </a:prstGeom>
          <a:noFill/>
        </p:spPr>
        <p:txBody>
          <a:bodyPr wrap="square">
            <a:spAutoFit/>
          </a:bodyPr>
          <a:lstStyle/>
          <a:p>
            <a:pPr algn="l"/>
            <a:r>
              <a:rPr sz="1300" b="0" i="0">
                <a:solidFill>
                  <a:srgbClr val="1A1A1A"/>
                </a:solidFill>
              </a:rPr>
              <a:t>Auditor</a:t>
            </a:r>
          </a:p>
        </p:txBody>
      </p:sp>
      <p:sp>
        <p:nvSpPr>
          <p:cNvPr id="32" name="Rectangle 31"/>
          <p:cNvSpPr/>
          <p:nvPr/>
        </p:nvSpPr>
        <p:spPr>
          <a:xfrm>
            <a:off x="5486400" y="1938528"/>
            <a:ext cx="2331720" cy="310896"/>
          </a:xfrm>
          <a:prstGeom prst="rect">
            <a:avLst/>
          </a:prstGeom>
          <a:solidFill>
            <a:srgbClr val="2C47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160520" y="2395728"/>
            <a:ext cx="3749039" cy="52120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251959" y="2487168"/>
            <a:ext cx="1234440" cy="402336"/>
          </a:xfrm>
          <a:prstGeom prst="rect">
            <a:avLst/>
          </a:prstGeom>
          <a:noFill/>
        </p:spPr>
        <p:txBody>
          <a:bodyPr wrap="square">
            <a:spAutoFit/>
          </a:bodyPr>
          <a:lstStyle/>
          <a:p>
            <a:pPr algn="l"/>
            <a:r>
              <a:rPr sz="1300" b="0" i="0">
                <a:solidFill>
                  <a:srgbClr val="1A1A1A"/>
                </a:solidFill>
              </a:rPr>
              <a:t>Minnesota</a:t>
            </a:r>
          </a:p>
        </p:txBody>
      </p:sp>
      <p:sp>
        <p:nvSpPr>
          <p:cNvPr id="35" name="Rectangle 34"/>
          <p:cNvSpPr/>
          <p:nvPr/>
        </p:nvSpPr>
        <p:spPr>
          <a:xfrm>
            <a:off x="5486400" y="2505456"/>
            <a:ext cx="2140120" cy="310896"/>
          </a:xfrm>
          <a:prstGeom prst="rect">
            <a:avLst/>
          </a:prstGeom>
          <a:solidFill>
            <a:srgbClr val="2C47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160520" y="2962656"/>
            <a:ext cx="3749039" cy="521207"/>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251959" y="3054096"/>
            <a:ext cx="1234440" cy="402336"/>
          </a:xfrm>
          <a:prstGeom prst="rect">
            <a:avLst/>
          </a:prstGeom>
          <a:noFill/>
        </p:spPr>
        <p:txBody>
          <a:bodyPr wrap="square">
            <a:spAutoFit/>
          </a:bodyPr>
          <a:lstStyle/>
          <a:p>
            <a:pPr algn="l"/>
            <a:r>
              <a:rPr sz="1300" b="0" i="0">
                <a:solidFill>
                  <a:srgbClr val="1A1A1A"/>
                </a:solidFill>
              </a:rPr>
              <a:t>Roster</a:t>
            </a:r>
          </a:p>
        </p:txBody>
      </p:sp>
      <p:sp>
        <p:nvSpPr>
          <p:cNvPr id="38" name="Rectangle 37"/>
          <p:cNvSpPr/>
          <p:nvPr/>
        </p:nvSpPr>
        <p:spPr>
          <a:xfrm>
            <a:off x="5486400" y="3072384"/>
            <a:ext cx="970725" cy="310896"/>
          </a:xfrm>
          <a:prstGeom prst="rect">
            <a:avLst/>
          </a:prstGeom>
          <a:solidFill>
            <a:srgbClr val="2C47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4160520" y="3529584"/>
            <a:ext cx="3749039" cy="52120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251959" y="3621024"/>
            <a:ext cx="1234440" cy="402336"/>
          </a:xfrm>
          <a:prstGeom prst="rect">
            <a:avLst/>
          </a:prstGeom>
          <a:noFill/>
        </p:spPr>
        <p:txBody>
          <a:bodyPr wrap="square">
            <a:spAutoFit/>
          </a:bodyPr>
          <a:lstStyle/>
          <a:p>
            <a:pPr algn="l"/>
            <a:r>
              <a:rPr sz="1300" b="0" i="0">
                <a:solidFill>
                  <a:srgbClr val="1A1A1A"/>
                </a:solidFill>
              </a:rPr>
              <a:t>Provision</a:t>
            </a:r>
          </a:p>
        </p:txBody>
      </p:sp>
      <p:sp>
        <p:nvSpPr>
          <p:cNvPr id="41" name="Rectangle 40"/>
          <p:cNvSpPr/>
          <p:nvPr/>
        </p:nvSpPr>
        <p:spPr>
          <a:xfrm>
            <a:off x="5486400" y="3639312"/>
            <a:ext cx="929011" cy="310896"/>
          </a:xfrm>
          <a:prstGeom prst="rect">
            <a:avLst/>
          </a:prstGeom>
          <a:solidFill>
            <a:srgbClr val="2C47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4160520" y="4096512"/>
            <a:ext cx="3749039" cy="521207"/>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251959" y="4187952"/>
            <a:ext cx="1234440" cy="402336"/>
          </a:xfrm>
          <a:prstGeom prst="rect">
            <a:avLst/>
          </a:prstGeom>
          <a:noFill/>
        </p:spPr>
        <p:txBody>
          <a:bodyPr wrap="square">
            <a:spAutoFit/>
          </a:bodyPr>
          <a:lstStyle/>
          <a:p>
            <a:pPr algn="l"/>
            <a:r>
              <a:rPr sz="1300" b="0" i="0">
                <a:solidFill>
                  <a:srgbClr val="1A1A1A"/>
                </a:solidFill>
              </a:rPr>
              <a:t>Canvass</a:t>
            </a:r>
          </a:p>
        </p:txBody>
      </p:sp>
      <p:sp>
        <p:nvSpPr>
          <p:cNvPr id="44" name="Rectangle 43"/>
          <p:cNvSpPr/>
          <p:nvPr/>
        </p:nvSpPr>
        <p:spPr>
          <a:xfrm>
            <a:off x="5486400" y="4206240"/>
            <a:ext cx="709131" cy="310896"/>
          </a:xfrm>
          <a:prstGeom prst="rect">
            <a:avLst/>
          </a:prstGeom>
          <a:solidFill>
            <a:srgbClr val="2C47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4160520" y="4663440"/>
            <a:ext cx="3749039" cy="52120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4251959" y="4754879"/>
            <a:ext cx="1234440" cy="402336"/>
          </a:xfrm>
          <a:prstGeom prst="rect">
            <a:avLst/>
          </a:prstGeom>
          <a:noFill/>
        </p:spPr>
        <p:txBody>
          <a:bodyPr wrap="square">
            <a:spAutoFit/>
          </a:bodyPr>
          <a:lstStyle/>
          <a:p>
            <a:pPr algn="l"/>
            <a:r>
              <a:rPr sz="1300" b="0" i="0">
                <a:solidFill>
                  <a:srgbClr val="1A1A1A"/>
                </a:solidFill>
              </a:rPr>
              <a:t>Revisor</a:t>
            </a:r>
          </a:p>
        </p:txBody>
      </p:sp>
      <p:sp>
        <p:nvSpPr>
          <p:cNvPr id="47" name="Rectangle 46"/>
          <p:cNvSpPr/>
          <p:nvPr/>
        </p:nvSpPr>
        <p:spPr>
          <a:xfrm>
            <a:off x="5486400" y="4773168"/>
            <a:ext cx="807405" cy="310896"/>
          </a:xfrm>
          <a:prstGeom prst="rect">
            <a:avLst/>
          </a:prstGeom>
          <a:solidFill>
            <a:srgbClr val="2C47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4160520" y="5230368"/>
            <a:ext cx="3749039" cy="521207"/>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251959" y="5321807"/>
            <a:ext cx="1234440" cy="402336"/>
          </a:xfrm>
          <a:prstGeom prst="rect">
            <a:avLst/>
          </a:prstGeom>
          <a:noFill/>
        </p:spPr>
        <p:txBody>
          <a:bodyPr wrap="square">
            <a:spAutoFit/>
          </a:bodyPr>
          <a:lstStyle/>
          <a:p>
            <a:pPr algn="l"/>
            <a:r>
              <a:rPr sz="1300" b="0" i="0">
                <a:solidFill>
                  <a:srgbClr val="1A1A1A"/>
                </a:solidFill>
              </a:rPr>
              <a:t>Commission</a:t>
            </a:r>
          </a:p>
        </p:txBody>
      </p:sp>
      <p:sp>
        <p:nvSpPr>
          <p:cNvPr id="50" name="Rectangle 49"/>
          <p:cNvSpPr/>
          <p:nvPr/>
        </p:nvSpPr>
        <p:spPr>
          <a:xfrm>
            <a:off x="5486400" y="5340096"/>
            <a:ext cx="815182" cy="310896"/>
          </a:xfrm>
          <a:prstGeom prst="rect">
            <a:avLst/>
          </a:prstGeom>
          <a:solidFill>
            <a:srgbClr val="2C47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8001000" y="1399032"/>
            <a:ext cx="3749039" cy="411480"/>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8092440" y="1417320"/>
            <a:ext cx="3566160" cy="347472"/>
          </a:xfrm>
          <a:prstGeom prst="rect">
            <a:avLst/>
          </a:prstGeom>
          <a:noFill/>
        </p:spPr>
        <p:txBody>
          <a:bodyPr wrap="square">
            <a:spAutoFit/>
          </a:bodyPr>
          <a:lstStyle/>
          <a:p>
            <a:pPr algn="l"/>
            <a:r>
              <a:rPr sz="1400" b="1" i="0">
                <a:solidFill>
                  <a:srgbClr val="FFFFFF"/>
                </a:solidFill>
              </a:rPr>
              <a:t>Divided-Gov States</a:t>
            </a:r>
          </a:p>
        </p:txBody>
      </p:sp>
      <p:sp>
        <p:nvSpPr>
          <p:cNvPr id="53" name="Rectangle 52"/>
          <p:cNvSpPr/>
          <p:nvPr/>
        </p:nvSpPr>
        <p:spPr>
          <a:xfrm>
            <a:off x="8001000" y="1828800"/>
            <a:ext cx="3749039" cy="521207"/>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8092440" y="1920240"/>
            <a:ext cx="1234440" cy="402336"/>
          </a:xfrm>
          <a:prstGeom prst="rect">
            <a:avLst/>
          </a:prstGeom>
          <a:noFill/>
        </p:spPr>
        <p:txBody>
          <a:bodyPr wrap="square">
            <a:spAutoFit/>
          </a:bodyPr>
          <a:lstStyle/>
          <a:p>
            <a:pPr algn="l"/>
            <a:r>
              <a:rPr sz="1300" b="0" i="0">
                <a:solidFill>
                  <a:srgbClr val="1A1A1A"/>
                </a:solidFill>
              </a:rPr>
              <a:t>Fiscal</a:t>
            </a:r>
          </a:p>
        </p:txBody>
      </p:sp>
      <p:sp>
        <p:nvSpPr>
          <p:cNvPr id="55" name="Rectangle 54"/>
          <p:cNvSpPr/>
          <p:nvPr/>
        </p:nvSpPr>
        <p:spPr>
          <a:xfrm>
            <a:off x="9326880" y="1938528"/>
            <a:ext cx="2331720" cy="310896"/>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8001000" y="2395728"/>
            <a:ext cx="3749039" cy="52120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8092440" y="2487168"/>
            <a:ext cx="1234440" cy="402336"/>
          </a:xfrm>
          <a:prstGeom prst="rect">
            <a:avLst/>
          </a:prstGeom>
          <a:noFill/>
        </p:spPr>
        <p:txBody>
          <a:bodyPr wrap="square">
            <a:spAutoFit/>
          </a:bodyPr>
          <a:lstStyle/>
          <a:p>
            <a:pPr algn="l"/>
            <a:r>
              <a:rPr sz="1300" b="0" i="0">
                <a:solidFill>
                  <a:srgbClr val="1A1A1A"/>
                </a:solidFill>
              </a:rPr>
              <a:t>Factor</a:t>
            </a:r>
          </a:p>
        </p:txBody>
      </p:sp>
      <p:sp>
        <p:nvSpPr>
          <p:cNvPr id="58" name="Rectangle 57"/>
          <p:cNvSpPr/>
          <p:nvPr/>
        </p:nvSpPr>
        <p:spPr>
          <a:xfrm>
            <a:off x="9326880" y="2505456"/>
            <a:ext cx="1456052" cy="310896"/>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8001000" y="2962656"/>
            <a:ext cx="3749039" cy="521207"/>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8092440" y="3054096"/>
            <a:ext cx="1234440" cy="402336"/>
          </a:xfrm>
          <a:prstGeom prst="rect">
            <a:avLst/>
          </a:prstGeom>
          <a:noFill/>
        </p:spPr>
        <p:txBody>
          <a:bodyPr wrap="square">
            <a:spAutoFit/>
          </a:bodyPr>
          <a:lstStyle/>
          <a:p>
            <a:pPr algn="l"/>
            <a:r>
              <a:rPr sz="1300" b="0" i="0">
                <a:solidFill>
                  <a:srgbClr val="1A1A1A"/>
                </a:solidFill>
              </a:rPr>
              <a:t>Barcode</a:t>
            </a:r>
          </a:p>
        </p:txBody>
      </p:sp>
      <p:sp>
        <p:nvSpPr>
          <p:cNvPr id="61" name="Rectangle 60"/>
          <p:cNvSpPr/>
          <p:nvPr/>
        </p:nvSpPr>
        <p:spPr>
          <a:xfrm>
            <a:off x="9326880" y="3072384"/>
            <a:ext cx="1296531" cy="310896"/>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8001000" y="3529584"/>
            <a:ext cx="3749039" cy="52120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8092440" y="3621024"/>
            <a:ext cx="1234440" cy="402336"/>
          </a:xfrm>
          <a:prstGeom prst="rect">
            <a:avLst/>
          </a:prstGeom>
          <a:noFill/>
        </p:spPr>
        <p:txBody>
          <a:bodyPr wrap="square">
            <a:spAutoFit/>
          </a:bodyPr>
          <a:lstStyle/>
          <a:p>
            <a:pPr algn="l"/>
            <a:r>
              <a:rPr sz="1300" b="0" i="0">
                <a:solidFill>
                  <a:srgbClr val="1A1A1A"/>
                </a:solidFill>
              </a:rPr>
              <a:t>Pool</a:t>
            </a:r>
          </a:p>
        </p:txBody>
      </p:sp>
      <p:sp>
        <p:nvSpPr>
          <p:cNvPr id="64" name="Rectangle 63"/>
          <p:cNvSpPr/>
          <p:nvPr/>
        </p:nvSpPr>
        <p:spPr>
          <a:xfrm>
            <a:off x="9326880" y="3639312"/>
            <a:ext cx="1313501" cy="310896"/>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8001000" y="4096512"/>
            <a:ext cx="3749039" cy="521207"/>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8092440" y="4187952"/>
            <a:ext cx="1234440" cy="402336"/>
          </a:xfrm>
          <a:prstGeom prst="rect">
            <a:avLst/>
          </a:prstGeom>
          <a:noFill/>
        </p:spPr>
        <p:txBody>
          <a:bodyPr wrap="square">
            <a:spAutoFit/>
          </a:bodyPr>
          <a:lstStyle/>
          <a:p>
            <a:pPr algn="l"/>
            <a:r>
              <a:rPr sz="1300" b="0" i="0">
                <a:solidFill>
                  <a:srgbClr val="1A1A1A"/>
                </a:solidFill>
              </a:rPr>
              <a:t>Alaska</a:t>
            </a:r>
          </a:p>
        </p:txBody>
      </p:sp>
      <p:sp>
        <p:nvSpPr>
          <p:cNvPr id="67" name="Rectangle 66"/>
          <p:cNvSpPr/>
          <p:nvPr/>
        </p:nvSpPr>
        <p:spPr>
          <a:xfrm>
            <a:off x="9326880" y="4206240"/>
            <a:ext cx="1137010" cy="310896"/>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8001000" y="4663440"/>
            <a:ext cx="3749039" cy="52120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8092440" y="4754879"/>
            <a:ext cx="1234440" cy="402336"/>
          </a:xfrm>
          <a:prstGeom prst="rect">
            <a:avLst/>
          </a:prstGeom>
          <a:noFill/>
        </p:spPr>
        <p:txBody>
          <a:bodyPr wrap="square">
            <a:spAutoFit/>
          </a:bodyPr>
          <a:lstStyle/>
          <a:p>
            <a:pPr algn="l"/>
            <a:r>
              <a:rPr sz="1300" b="0" i="0">
                <a:solidFill>
                  <a:srgbClr val="1A1A1A"/>
                </a:solidFill>
              </a:rPr>
              <a:t>Deficit</a:t>
            </a:r>
          </a:p>
        </p:txBody>
      </p:sp>
      <p:sp>
        <p:nvSpPr>
          <p:cNvPr id="70" name="Rectangle 69"/>
          <p:cNvSpPr/>
          <p:nvPr/>
        </p:nvSpPr>
        <p:spPr>
          <a:xfrm>
            <a:off x="9326880" y="4773168"/>
            <a:ext cx="1255802" cy="310896"/>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p:cNvSpPr/>
          <p:nvPr/>
        </p:nvSpPr>
        <p:spPr>
          <a:xfrm>
            <a:off x="8001000" y="5230368"/>
            <a:ext cx="3749039" cy="521207"/>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8092440" y="5321807"/>
            <a:ext cx="1234440" cy="402336"/>
          </a:xfrm>
          <a:prstGeom prst="rect">
            <a:avLst/>
          </a:prstGeom>
          <a:noFill/>
        </p:spPr>
        <p:txBody>
          <a:bodyPr wrap="square">
            <a:spAutoFit/>
          </a:bodyPr>
          <a:lstStyle/>
          <a:p>
            <a:pPr algn="l"/>
            <a:r>
              <a:rPr sz="1300" b="0" i="0">
                <a:solidFill>
                  <a:srgbClr val="1A1A1A"/>
                </a:solidFill>
              </a:rPr>
              <a:t>Commonwealth</a:t>
            </a:r>
          </a:p>
        </p:txBody>
      </p:sp>
      <p:sp>
        <p:nvSpPr>
          <p:cNvPr id="73" name="Rectangle 72"/>
          <p:cNvSpPr/>
          <p:nvPr/>
        </p:nvSpPr>
        <p:spPr>
          <a:xfrm>
            <a:off x="9326880" y="5340096"/>
            <a:ext cx="970701" cy="310896"/>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457200" y="5989320"/>
            <a:ext cx="11274552" cy="18288"/>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320040" y="6099048"/>
            <a:ext cx="11521440" cy="548640"/>
          </a:xfrm>
          <a:prstGeom prst="rect">
            <a:avLst/>
          </a:prstGeom>
          <a:noFill/>
        </p:spPr>
        <p:txBody>
          <a:bodyPr wrap="square">
            <a:spAutoFit/>
          </a:bodyPr>
          <a:lstStyle/>
          <a:p>
            <a:pPr algn="l"/>
            <a:r>
              <a:rPr sz="1100" b="0" i="1">
                <a:solidFill>
                  <a:srgbClr val="555555"/>
                </a:solidFill>
              </a:rPr>
              <a:t>Word stems shown (e.g. "falsif" = falsification, "circul" = circulation). Bar length is relative to the top term within each group — scores are not comparable across groups. Statutory citation terms (§203B, §204C) and PDF markup artifacts removed.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C47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5544"/>
            <a:ext cx="11247120" cy="731520"/>
          </a:xfrm>
          <a:prstGeom prst="rect">
            <a:avLst/>
          </a:prstGeom>
          <a:noFill/>
        </p:spPr>
        <p:txBody>
          <a:bodyPr wrap="square">
            <a:spAutoFit/>
          </a:bodyPr>
          <a:lstStyle/>
          <a:p>
            <a:pPr algn="l"/>
            <a:r>
              <a:rPr sz="3400" b="1" i="0">
                <a:solidFill>
                  <a:srgbClr val="1A1A1A"/>
                </a:solidFill>
              </a:rPr>
              <a:t>Finding 2: Republican and Democratic Bills Focus on Different Policy Areas</a:t>
            </a:r>
          </a:p>
        </p:txBody>
      </p:sp>
      <p:sp>
        <p:nvSpPr>
          <p:cNvPr id="4" name="TextBox 3"/>
          <p:cNvSpPr txBox="1"/>
          <p:nvPr/>
        </p:nvSpPr>
        <p:spPr>
          <a:xfrm>
            <a:off x="411100" y="1025382"/>
            <a:ext cx="11247120" cy="411480"/>
          </a:xfrm>
          <a:prstGeom prst="rect">
            <a:avLst/>
          </a:prstGeom>
          <a:noFill/>
        </p:spPr>
        <p:txBody>
          <a:bodyPr wrap="square">
            <a:spAutoFit/>
          </a:bodyPr>
          <a:lstStyle/>
          <a:p>
            <a:pPr algn="l"/>
            <a:r>
              <a:rPr sz="1800" b="0" i="0">
                <a:solidFill>
                  <a:srgbClr val="555555"/>
                </a:solidFill>
              </a:rPr>
              <a:t>Four themes emerged from the text — the computer found these patterns without being told what to look for</a:t>
            </a:r>
          </a:p>
        </p:txBody>
      </p:sp>
      <p:sp>
        <p:nvSpPr>
          <p:cNvPr id="5" name="Rectangle 4"/>
          <p:cNvSpPr/>
          <p:nvPr/>
        </p:nvSpPr>
        <p:spPr>
          <a:xfrm>
            <a:off x="320040" y="1371600"/>
            <a:ext cx="5074920" cy="10058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20040" y="1371600"/>
            <a:ext cx="91440" cy="1005840"/>
          </a:xfrm>
          <a:prstGeom prst="rect">
            <a:avLst/>
          </a:prstGeom>
          <a:solidFill>
            <a:srgbClr val="2C47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30352" y="1444752"/>
            <a:ext cx="4754880" cy="347472"/>
          </a:xfrm>
          <a:prstGeom prst="rect">
            <a:avLst/>
          </a:prstGeom>
          <a:noFill/>
        </p:spPr>
        <p:txBody>
          <a:bodyPr wrap="square">
            <a:spAutoFit/>
          </a:bodyPr>
          <a:lstStyle/>
          <a:p>
            <a:pPr algn="l"/>
            <a:r>
              <a:rPr sz="1400" b="1" i="0">
                <a:solidFill>
                  <a:srgbClr val="1A1A1A"/>
                </a:solidFill>
              </a:rPr>
              <a:t>Election Administration</a:t>
            </a:r>
          </a:p>
        </p:txBody>
      </p:sp>
      <p:sp>
        <p:nvSpPr>
          <p:cNvPr id="8" name="TextBox 7"/>
          <p:cNvSpPr txBox="1"/>
          <p:nvPr/>
        </p:nvSpPr>
        <p:spPr>
          <a:xfrm>
            <a:off x="530352" y="1828800"/>
            <a:ext cx="4754880" cy="475488"/>
          </a:xfrm>
          <a:prstGeom prst="rect">
            <a:avLst/>
          </a:prstGeom>
          <a:noFill/>
        </p:spPr>
        <p:txBody>
          <a:bodyPr wrap="square">
            <a:spAutoFit/>
          </a:bodyPr>
          <a:lstStyle/>
          <a:p>
            <a:pPr algn="l"/>
            <a:r>
              <a:rPr sz="1200" b="0" i="0">
                <a:solidFill>
                  <a:srgbClr val="555555"/>
                </a:solidFill>
              </a:rPr>
              <a:t>How elections are run day-to-day: polling places, counting, party primaries</a:t>
            </a:r>
          </a:p>
        </p:txBody>
      </p:sp>
      <p:sp>
        <p:nvSpPr>
          <p:cNvPr id="9" name="Rectangle 8"/>
          <p:cNvSpPr/>
          <p:nvPr/>
        </p:nvSpPr>
        <p:spPr>
          <a:xfrm>
            <a:off x="320040" y="2487168"/>
            <a:ext cx="5074920" cy="10058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20040" y="2487168"/>
            <a:ext cx="91440" cy="1005840"/>
          </a:xfrm>
          <a:prstGeom prst="rect">
            <a:avLst/>
          </a:prstGeom>
          <a:solidFill>
            <a:srgbClr val="5E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30352" y="2560320"/>
            <a:ext cx="4754880" cy="347472"/>
          </a:xfrm>
          <a:prstGeom prst="rect">
            <a:avLst/>
          </a:prstGeom>
          <a:noFill/>
        </p:spPr>
        <p:txBody>
          <a:bodyPr wrap="square">
            <a:spAutoFit/>
          </a:bodyPr>
          <a:lstStyle/>
          <a:p>
            <a:pPr algn="l"/>
            <a:r>
              <a:rPr sz="1400" b="1" i="0">
                <a:solidFill>
                  <a:srgbClr val="1A1A1A"/>
                </a:solidFill>
              </a:rPr>
              <a:t>Voter ID &amp; Registration</a:t>
            </a:r>
          </a:p>
        </p:txBody>
      </p:sp>
      <p:sp>
        <p:nvSpPr>
          <p:cNvPr id="12" name="TextBox 11"/>
          <p:cNvSpPr txBox="1"/>
          <p:nvPr/>
        </p:nvSpPr>
        <p:spPr>
          <a:xfrm>
            <a:off x="530352" y="2944368"/>
            <a:ext cx="4754880" cy="475488"/>
          </a:xfrm>
          <a:prstGeom prst="rect">
            <a:avLst/>
          </a:prstGeom>
          <a:noFill/>
        </p:spPr>
        <p:txBody>
          <a:bodyPr wrap="square">
            <a:spAutoFit/>
          </a:bodyPr>
          <a:lstStyle/>
          <a:p>
            <a:pPr algn="l"/>
            <a:r>
              <a:rPr sz="1200" b="0" i="0">
                <a:solidFill>
                  <a:srgbClr val="555555"/>
                </a:solidFill>
              </a:rPr>
              <a:t>ID requirements, registration procedures, absentee ballot rules</a:t>
            </a:r>
          </a:p>
        </p:txBody>
      </p:sp>
      <p:sp>
        <p:nvSpPr>
          <p:cNvPr id="13" name="Rectangle 12"/>
          <p:cNvSpPr/>
          <p:nvPr/>
        </p:nvSpPr>
        <p:spPr>
          <a:xfrm>
            <a:off x="320040" y="3602736"/>
            <a:ext cx="5074920" cy="10058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20040" y="3602736"/>
            <a:ext cx="91440" cy="1005840"/>
          </a:xfrm>
          <a:prstGeom prst="rect">
            <a:avLst/>
          </a:prstGeom>
          <a:solidFill>
            <a:srgbClr val="8A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30352" y="3675887"/>
            <a:ext cx="4754880" cy="347472"/>
          </a:xfrm>
          <a:prstGeom prst="rect">
            <a:avLst/>
          </a:prstGeom>
          <a:noFill/>
        </p:spPr>
        <p:txBody>
          <a:bodyPr wrap="square">
            <a:spAutoFit/>
          </a:bodyPr>
          <a:lstStyle/>
          <a:p>
            <a:pPr algn="l"/>
            <a:r>
              <a:rPr sz="1400" b="1" i="0">
                <a:solidFill>
                  <a:srgbClr val="1A1A1A"/>
                </a:solidFill>
              </a:rPr>
              <a:t>Redistricting &amp; Certification</a:t>
            </a:r>
          </a:p>
        </p:txBody>
      </p:sp>
      <p:sp>
        <p:nvSpPr>
          <p:cNvPr id="16" name="TextBox 15"/>
          <p:cNvSpPr txBox="1"/>
          <p:nvPr/>
        </p:nvSpPr>
        <p:spPr>
          <a:xfrm>
            <a:off x="530352" y="4059935"/>
            <a:ext cx="4754880" cy="475488"/>
          </a:xfrm>
          <a:prstGeom prst="rect">
            <a:avLst/>
          </a:prstGeom>
          <a:noFill/>
        </p:spPr>
        <p:txBody>
          <a:bodyPr wrap="square">
            <a:spAutoFit/>
          </a:bodyPr>
          <a:lstStyle/>
          <a:p>
            <a:pPr algn="l"/>
            <a:r>
              <a:rPr sz="1200" b="0" i="0">
                <a:solidFill>
                  <a:srgbClr val="555555"/>
                </a:solidFill>
              </a:rPr>
              <a:t>Drawing district boundaries, certifying results, petition processes</a:t>
            </a:r>
          </a:p>
        </p:txBody>
      </p:sp>
      <p:sp>
        <p:nvSpPr>
          <p:cNvPr id="17" name="Rectangle 16"/>
          <p:cNvSpPr/>
          <p:nvPr/>
        </p:nvSpPr>
        <p:spPr>
          <a:xfrm>
            <a:off x="320040" y="4718304"/>
            <a:ext cx="5074920" cy="10058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320040" y="4718304"/>
            <a:ext cx="91440" cy="1005840"/>
          </a:xfrm>
          <a:prstGeom prst="rect">
            <a:avLst/>
          </a:prstGeom>
          <a:solidFill>
            <a:srgbClr val="C5C5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30352" y="4791456"/>
            <a:ext cx="4754880" cy="347472"/>
          </a:xfrm>
          <a:prstGeom prst="rect">
            <a:avLst/>
          </a:prstGeom>
          <a:noFill/>
        </p:spPr>
        <p:txBody>
          <a:bodyPr wrap="square">
            <a:spAutoFit/>
          </a:bodyPr>
          <a:lstStyle/>
          <a:p>
            <a:pPr algn="l"/>
            <a:r>
              <a:rPr sz="1400" b="1" i="0">
                <a:solidFill>
                  <a:srgbClr val="1A1A1A"/>
                </a:solidFill>
              </a:rPr>
              <a:t>Local Government &amp; Procedures</a:t>
            </a:r>
          </a:p>
        </p:txBody>
      </p:sp>
      <p:sp>
        <p:nvSpPr>
          <p:cNvPr id="20" name="TextBox 19"/>
          <p:cNvSpPr txBox="1"/>
          <p:nvPr/>
        </p:nvSpPr>
        <p:spPr>
          <a:xfrm>
            <a:off x="530352" y="5175504"/>
            <a:ext cx="4754880" cy="475488"/>
          </a:xfrm>
          <a:prstGeom prst="rect">
            <a:avLst/>
          </a:prstGeom>
          <a:noFill/>
        </p:spPr>
        <p:txBody>
          <a:bodyPr wrap="square">
            <a:spAutoFit/>
          </a:bodyPr>
          <a:lstStyle/>
          <a:p>
            <a:pPr algn="l"/>
            <a:r>
              <a:rPr sz="1200" b="0" i="0">
                <a:solidFill>
                  <a:srgbClr val="555555"/>
                </a:solidFill>
              </a:rPr>
              <a:t>Administrative housekeeping: forms, definitions, local office procedures</a:t>
            </a:r>
          </a:p>
        </p:txBody>
      </p:sp>
      <p:sp>
        <p:nvSpPr>
          <p:cNvPr id="21" name="TextBox 20"/>
          <p:cNvSpPr txBox="1"/>
          <p:nvPr/>
        </p:nvSpPr>
        <p:spPr>
          <a:xfrm>
            <a:off x="5669280" y="1325880"/>
            <a:ext cx="6217920" cy="347472"/>
          </a:xfrm>
          <a:prstGeom prst="rect">
            <a:avLst/>
          </a:prstGeom>
          <a:noFill/>
        </p:spPr>
        <p:txBody>
          <a:bodyPr wrap="square">
            <a:spAutoFit/>
          </a:bodyPr>
          <a:lstStyle/>
          <a:p>
            <a:pPr algn="l"/>
            <a:r>
              <a:rPr sz="1400" b="1" i="0">
                <a:solidFill>
                  <a:srgbClr val="2C4770"/>
                </a:solidFill>
              </a:rPr>
              <a:t>Share of each theme per group (%)</a:t>
            </a:r>
          </a:p>
        </p:txBody>
      </p:sp>
      <p:sp>
        <p:nvSpPr>
          <p:cNvPr id="22" name="TextBox 21"/>
          <p:cNvSpPr txBox="1"/>
          <p:nvPr/>
        </p:nvSpPr>
        <p:spPr>
          <a:xfrm>
            <a:off x="5669280" y="1892807"/>
            <a:ext cx="685800" cy="658368"/>
          </a:xfrm>
          <a:prstGeom prst="rect">
            <a:avLst/>
          </a:prstGeom>
          <a:noFill/>
        </p:spPr>
        <p:txBody>
          <a:bodyPr wrap="square">
            <a:spAutoFit/>
          </a:bodyPr>
          <a:lstStyle/>
          <a:p>
            <a:pPr algn="l"/>
            <a:r>
              <a:rPr sz="1200" b="1" i="0">
                <a:solidFill>
                  <a:srgbClr val="1A1A1A"/>
                </a:solidFill>
              </a:rPr>
              <a:t>Republican
(n=13)</a:t>
            </a:r>
          </a:p>
        </p:txBody>
      </p:sp>
      <p:sp>
        <p:nvSpPr>
          <p:cNvPr id="23" name="Rectangle 22"/>
          <p:cNvSpPr/>
          <p:nvPr/>
        </p:nvSpPr>
        <p:spPr>
          <a:xfrm>
            <a:off x="6400800" y="1783080"/>
            <a:ext cx="2778404" cy="658368"/>
          </a:xfrm>
          <a:prstGeom prst="rect">
            <a:avLst/>
          </a:prstGeom>
          <a:solidFill>
            <a:srgbClr val="2C47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37376" y="1984248"/>
            <a:ext cx="2705252" cy="292608"/>
          </a:xfrm>
          <a:prstGeom prst="rect">
            <a:avLst/>
          </a:prstGeom>
          <a:noFill/>
        </p:spPr>
        <p:txBody>
          <a:bodyPr wrap="square">
            <a:spAutoFit/>
          </a:bodyPr>
          <a:lstStyle/>
          <a:p>
            <a:pPr algn="ctr"/>
            <a:r>
              <a:rPr sz="1100" b="1" i="0">
                <a:solidFill>
                  <a:srgbClr val="FFFFFF"/>
                </a:solidFill>
              </a:rPr>
              <a:t>52%</a:t>
            </a:r>
          </a:p>
        </p:txBody>
      </p:sp>
      <p:sp>
        <p:nvSpPr>
          <p:cNvPr id="25" name="Rectangle 24"/>
          <p:cNvSpPr/>
          <p:nvPr/>
        </p:nvSpPr>
        <p:spPr>
          <a:xfrm>
            <a:off x="9179204" y="1783080"/>
            <a:ext cx="377647" cy="658368"/>
          </a:xfrm>
          <a:prstGeom prst="rect">
            <a:avLst/>
          </a:prstGeom>
          <a:solidFill>
            <a:srgbClr val="5E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9556851" y="1783080"/>
            <a:ext cx="1645462" cy="658368"/>
          </a:xfrm>
          <a:prstGeom prst="rect">
            <a:avLst/>
          </a:prstGeom>
          <a:solidFill>
            <a:srgbClr val="8A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593427" y="1984248"/>
            <a:ext cx="1572310" cy="292608"/>
          </a:xfrm>
          <a:prstGeom prst="rect">
            <a:avLst/>
          </a:prstGeom>
          <a:noFill/>
        </p:spPr>
        <p:txBody>
          <a:bodyPr wrap="square">
            <a:spAutoFit/>
          </a:bodyPr>
          <a:lstStyle/>
          <a:p>
            <a:pPr algn="ctr"/>
            <a:r>
              <a:rPr sz="1100" b="1" i="0">
                <a:solidFill>
                  <a:srgbClr val="FFFFFF"/>
                </a:solidFill>
              </a:rPr>
              <a:t>30%</a:t>
            </a:r>
          </a:p>
        </p:txBody>
      </p:sp>
      <p:sp>
        <p:nvSpPr>
          <p:cNvPr id="28" name="Rectangle 27"/>
          <p:cNvSpPr/>
          <p:nvPr/>
        </p:nvSpPr>
        <p:spPr>
          <a:xfrm>
            <a:off x="11202314" y="1783080"/>
            <a:ext cx="598840" cy="658368"/>
          </a:xfrm>
          <a:prstGeom prst="rect">
            <a:avLst/>
          </a:prstGeom>
          <a:solidFill>
            <a:srgbClr val="C5C5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1238890" y="1984248"/>
            <a:ext cx="525688" cy="292608"/>
          </a:xfrm>
          <a:prstGeom prst="rect">
            <a:avLst/>
          </a:prstGeom>
          <a:noFill/>
        </p:spPr>
        <p:txBody>
          <a:bodyPr wrap="square">
            <a:spAutoFit/>
          </a:bodyPr>
          <a:lstStyle/>
          <a:p>
            <a:pPr algn="ctr"/>
            <a:r>
              <a:rPr sz="1100" b="1" i="0">
                <a:solidFill>
                  <a:srgbClr val="FFFFFF"/>
                </a:solidFill>
              </a:rPr>
              <a:t>11%</a:t>
            </a:r>
          </a:p>
        </p:txBody>
      </p:sp>
      <p:sp>
        <p:nvSpPr>
          <p:cNvPr id="30" name="TextBox 29"/>
          <p:cNvSpPr txBox="1"/>
          <p:nvPr/>
        </p:nvSpPr>
        <p:spPr>
          <a:xfrm>
            <a:off x="5669280" y="3118104"/>
            <a:ext cx="685800" cy="658368"/>
          </a:xfrm>
          <a:prstGeom prst="rect">
            <a:avLst/>
          </a:prstGeom>
          <a:noFill/>
        </p:spPr>
        <p:txBody>
          <a:bodyPr wrap="square">
            <a:spAutoFit/>
          </a:bodyPr>
          <a:lstStyle/>
          <a:p>
            <a:pPr algn="l"/>
            <a:r>
              <a:rPr sz="1200" b="1" i="0">
                <a:solidFill>
                  <a:srgbClr val="1A1A1A"/>
                </a:solidFill>
              </a:rPr>
              <a:t>Democratic
(n=24)</a:t>
            </a:r>
          </a:p>
        </p:txBody>
      </p:sp>
      <p:sp>
        <p:nvSpPr>
          <p:cNvPr id="31" name="Rectangle 30"/>
          <p:cNvSpPr/>
          <p:nvPr/>
        </p:nvSpPr>
        <p:spPr>
          <a:xfrm>
            <a:off x="6400800" y="3008376"/>
            <a:ext cx="1084386" cy="658368"/>
          </a:xfrm>
          <a:prstGeom prst="rect">
            <a:avLst/>
          </a:prstGeom>
          <a:solidFill>
            <a:srgbClr val="2C47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37376" y="3209544"/>
            <a:ext cx="1011234" cy="292608"/>
          </a:xfrm>
          <a:prstGeom prst="rect">
            <a:avLst/>
          </a:prstGeom>
          <a:noFill/>
        </p:spPr>
        <p:txBody>
          <a:bodyPr wrap="square">
            <a:spAutoFit/>
          </a:bodyPr>
          <a:lstStyle/>
          <a:p>
            <a:pPr algn="ctr"/>
            <a:r>
              <a:rPr sz="1100" b="1" i="0">
                <a:solidFill>
                  <a:srgbClr val="FFFFFF"/>
                </a:solidFill>
              </a:rPr>
              <a:t>20%</a:t>
            </a:r>
          </a:p>
        </p:txBody>
      </p:sp>
      <p:sp>
        <p:nvSpPr>
          <p:cNvPr id="33" name="Rectangle 32"/>
          <p:cNvSpPr/>
          <p:nvPr/>
        </p:nvSpPr>
        <p:spPr>
          <a:xfrm>
            <a:off x="7485186" y="3008376"/>
            <a:ext cx="3010387" cy="658368"/>
          </a:xfrm>
          <a:prstGeom prst="rect">
            <a:avLst/>
          </a:prstGeom>
          <a:solidFill>
            <a:srgbClr val="5E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521762" y="3209544"/>
            <a:ext cx="2937235" cy="292608"/>
          </a:xfrm>
          <a:prstGeom prst="rect">
            <a:avLst/>
          </a:prstGeom>
          <a:noFill/>
        </p:spPr>
        <p:txBody>
          <a:bodyPr wrap="square">
            <a:spAutoFit/>
          </a:bodyPr>
          <a:lstStyle/>
          <a:p>
            <a:pPr algn="ctr"/>
            <a:r>
              <a:rPr sz="1100" b="1" i="0">
                <a:solidFill>
                  <a:srgbClr val="FFFFFF"/>
                </a:solidFill>
              </a:rPr>
              <a:t>56%</a:t>
            </a:r>
          </a:p>
        </p:txBody>
      </p:sp>
      <p:sp>
        <p:nvSpPr>
          <p:cNvPr id="35" name="Rectangle 34"/>
          <p:cNvSpPr/>
          <p:nvPr/>
        </p:nvSpPr>
        <p:spPr>
          <a:xfrm>
            <a:off x="10495574" y="3008376"/>
            <a:ext cx="231983" cy="658368"/>
          </a:xfrm>
          <a:prstGeom prst="rect">
            <a:avLst/>
          </a:prstGeom>
          <a:solidFill>
            <a:srgbClr val="8A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10727557" y="3008376"/>
            <a:ext cx="1068202" cy="658368"/>
          </a:xfrm>
          <a:prstGeom prst="rect">
            <a:avLst/>
          </a:prstGeom>
          <a:solidFill>
            <a:srgbClr val="C5C5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0764133" y="3209544"/>
            <a:ext cx="995050" cy="292608"/>
          </a:xfrm>
          <a:prstGeom prst="rect">
            <a:avLst/>
          </a:prstGeom>
          <a:noFill/>
        </p:spPr>
        <p:txBody>
          <a:bodyPr wrap="square">
            <a:spAutoFit/>
          </a:bodyPr>
          <a:lstStyle/>
          <a:p>
            <a:pPr algn="ctr"/>
            <a:r>
              <a:rPr sz="1100" b="1" i="0">
                <a:solidFill>
                  <a:srgbClr val="FFFFFF"/>
                </a:solidFill>
              </a:rPr>
              <a:t>20%</a:t>
            </a:r>
          </a:p>
        </p:txBody>
      </p:sp>
      <p:sp>
        <p:nvSpPr>
          <p:cNvPr id="38" name="TextBox 37"/>
          <p:cNvSpPr txBox="1"/>
          <p:nvPr/>
        </p:nvSpPr>
        <p:spPr>
          <a:xfrm>
            <a:off x="5669280" y="4343400"/>
            <a:ext cx="685800" cy="658368"/>
          </a:xfrm>
          <a:prstGeom prst="rect">
            <a:avLst/>
          </a:prstGeom>
          <a:noFill/>
        </p:spPr>
        <p:txBody>
          <a:bodyPr wrap="square">
            <a:spAutoFit/>
          </a:bodyPr>
          <a:lstStyle/>
          <a:p>
            <a:pPr algn="l"/>
            <a:r>
              <a:rPr sz="1200" b="1" i="0">
                <a:solidFill>
                  <a:srgbClr val="1A1A1A"/>
                </a:solidFill>
              </a:rPr>
              <a:t>Divided
(n=14)</a:t>
            </a:r>
          </a:p>
        </p:txBody>
      </p:sp>
      <p:sp>
        <p:nvSpPr>
          <p:cNvPr id="39" name="Rectangle 38"/>
          <p:cNvSpPr/>
          <p:nvPr/>
        </p:nvSpPr>
        <p:spPr>
          <a:xfrm>
            <a:off x="6400800" y="4233672"/>
            <a:ext cx="1149126" cy="658368"/>
          </a:xfrm>
          <a:prstGeom prst="rect">
            <a:avLst/>
          </a:prstGeom>
          <a:solidFill>
            <a:srgbClr val="2C47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437376" y="4434840"/>
            <a:ext cx="1075974" cy="292608"/>
          </a:xfrm>
          <a:prstGeom prst="rect">
            <a:avLst/>
          </a:prstGeom>
          <a:noFill/>
        </p:spPr>
        <p:txBody>
          <a:bodyPr wrap="square">
            <a:spAutoFit/>
          </a:bodyPr>
          <a:lstStyle/>
          <a:p>
            <a:pPr algn="ctr"/>
            <a:r>
              <a:rPr sz="1100" b="1" i="0">
                <a:solidFill>
                  <a:srgbClr val="FFFFFF"/>
                </a:solidFill>
              </a:rPr>
              <a:t>21%</a:t>
            </a:r>
          </a:p>
        </p:txBody>
      </p:sp>
      <p:sp>
        <p:nvSpPr>
          <p:cNvPr id="41" name="Rectangle 40"/>
          <p:cNvSpPr/>
          <p:nvPr/>
        </p:nvSpPr>
        <p:spPr>
          <a:xfrm>
            <a:off x="7549926" y="4233672"/>
            <a:ext cx="625815" cy="658368"/>
          </a:xfrm>
          <a:prstGeom prst="rect">
            <a:avLst/>
          </a:prstGeom>
          <a:solidFill>
            <a:srgbClr val="5E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586502" y="4434840"/>
            <a:ext cx="552663" cy="292608"/>
          </a:xfrm>
          <a:prstGeom prst="rect">
            <a:avLst/>
          </a:prstGeom>
          <a:noFill/>
        </p:spPr>
        <p:txBody>
          <a:bodyPr wrap="square">
            <a:spAutoFit/>
          </a:bodyPr>
          <a:lstStyle/>
          <a:p>
            <a:pPr algn="ctr"/>
            <a:r>
              <a:rPr sz="1100" b="1" i="0">
                <a:solidFill>
                  <a:srgbClr val="FFFFFF"/>
                </a:solidFill>
              </a:rPr>
              <a:t>12%</a:t>
            </a:r>
          </a:p>
        </p:txBody>
      </p:sp>
      <p:sp>
        <p:nvSpPr>
          <p:cNvPr id="43" name="Rectangle 42"/>
          <p:cNvSpPr/>
          <p:nvPr/>
        </p:nvSpPr>
        <p:spPr>
          <a:xfrm>
            <a:off x="8175741" y="4233672"/>
            <a:ext cx="636605" cy="658368"/>
          </a:xfrm>
          <a:prstGeom prst="rect">
            <a:avLst/>
          </a:prstGeom>
          <a:solidFill>
            <a:srgbClr val="8A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212317" y="4434840"/>
            <a:ext cx="563453" cy="292608"/>
          </a:xfrm>
          <a:prstGeom prst="rect">
            <a:avLst/>
          </a:prstGeom>
          <a:noFill/>
        </p:spPr>
        <p:txBody>
          <a:bodyPr wrap="square">
            <a:spAutoFit/>
          </a:bodyPr>
          <a:lstStyle/>
          <a:p>
            <a:pPr algn="ctr"/>
            <a:r>
              <a:rPr sz="1100" b="1" i="0">
                <a:solidFill>
                  <a:srgbClr val="FFFFFF"/>
                </a:solidFill>
              </a:rPr>
              <a:t>12%</a:t>
            </a:r>
          </a:p>
        </p:txBody>
      </p:sp>
      <p:sp>
        <p:nvSpPr>
          <p:cNvPr id="45" name="Rectangle 44"/>
          <p:cNvSpPr/>
          <p:nvPr/>
        </p:nvSpPr>
        <p:spPr>
          <a:xfrm>
            <a:off x="8812347" y="4233672"/>
            <a:ext cx="2983412" cy="658368"/>
          </a:xfrm>
          <a:prstGeom prst="rect">
            <a:avLst/>
          </a:prstGeom>
          <a:solidFill>
            <a:srgbClr val="C5C5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848923" y="4434840"/>
            <a:ext cx="2910260" cy="292608"/>
          </a:xfrm>
          <a:prstGeom prst="rect">
            <a:avLst/>
          </a:prstGeom>
          <a:noFill/>
        </p:spPr>
        <p:txBody>
          <a:bodyPr wrap="square">
            <a:spAutoFit/>
          </a:bodyPr>
          <a:lstStyle/>
          <a:p>
            <a:pPr algn="ctr"/>
            <a:r>
              <a:rPr sz="1100" b="1" i="0">
                <a:solidFill>
                  <a:srgbClr val="FFFFFF"/>
                </a:solidFill>
              </a:rPr>
              <a:t>55%</a:t>
            </a:r>
          </a:p>
        </p:txBody>
      </p:sp>
      <p:sp>
        <p:nvSpPr>
          <p:cNvPr id="47" name="Rectangle 46"/>
          <p:cNvSpPr/>
          <p:nvPr/>
        </p:nvSpPr>
        <p:spPr>
          <a:xfrm>
            <a:off x="6400800" y="5596128"/>
            <a:ext cx="182880" cy="182880"/>
          </a:xfrm>
          <a:prstGeom prst="rect">
            <a:avLst/>
          </a:prstGeom>
          <a:solidFill>
            <a:srgbClr val="2C47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629400" y="5577840"/>
            <a:ext cx="1097280" cy="256032"/>
          </a:xfrm>
          <a:prstGeom prst="rect">
            <a:avLst/>
          </a:prstGeom>
          <a:noFill/>
        </p:spPr>
        <p:txBody>
          <a:bodyPr wrap="square">
            <a:spAutoFit/>
          </a:bodyPr>
          <a:lstStyle/>
          <a:p>
            <a:pPr algn="l"/>
            <a:r>
              <a:rPr sz="1100" b="0" i="0">
                <a:solidFill>
                  <a:srgbClr val="1A1A1A"/>
                </a:solidFill>
              </a:rPr>
              <a:t>Admin</a:t>
            </a:r>
          </a:p>
        </p:txBody>
      </p:sp>
      <p:sp>
        <p:nvSpPr>
          <p:cNvPr id="49" name="Rectangle 48"/>
          <p:cNvSpPr/>
          <p:nvPr/>
        </p:nvSpPr>
        <p:spPr>
          <a:xfrm>
            <a:off x="7772400" y="5596128"/>
            <a:ext cx="182880" cy="182880"/>
          </a:xfrm>
          <a:prstGeom prst="rect">
            <a:avLst/>
          </a:prstGeom>
          <a:solidFill>
            <a:srgbClr val="5E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8001000" y="5577840"/>
            <a:ext cx="1097280" cy="256032"/>
          </a:xfrm>
          <a:prstGeom prst="rect">
            <a:avLst/>
          </a:prstGeom>
          <a:noFill/>
        </p:spPr>
        <p:txBody>
          <a:bodyPr wrap="square">
            <a:spAutoFit/>
          </a:bodyPr>
          <a:lstStyle/>
          <a:p>
            <a:pPr algn="l"/>
            <a:r>
              <a:rPr sz="1100" b="0" i="0">
                <a:solidFill>
                  <a:srgbClr val="1A1A1A"/>
                </a:solidFill>
              </a:rPr>
              <a:t>Voter ID</a:t>
            </a:r>
          </a:p>
        </p:txBody>
      </p:sp>
      <p:sp>
        <p:nvSpPr>
          <p:cNvPr id="51" name="Rectangle 50"/>
          <p:cNvSpPr/>
          <p:nvPr/>
        </p:nvSpPr>
        <p:spPr>
          <a:xfrm>
            <a:off x="9144000" y="5596128"/>
            <a:ext cx="182880" cy="182880"/>
          </a:xfrm>
          <a:prstGeom prst="rect">
            <a:avLst/>
          </a:prstGeom>
          <a:solidFill>
            <a:srgbClr val="8A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9372600" y="5577840"/>
            <a:ext cx="1097280" cy="256032"/>
          </a:xfrm>
          <a:prstGeom prst="rect">
            <a:avLst/>
          </a:prstGeom>
          <a:noFill/>
        </p:spPr>
        <p:txBody>
          <a:bodyPr wrap="square">
            <a:spAutoFit/>
          </a:bodyPr>
          <a:lstStyle/>
          <a:p>
            <a:pPr algn="l"/>
            <a:r>
              <a:rPr sz="1100" b="0" i="0">
                <a:solidFill>
                  <a:srgbClr val="1A1A1A"/>
                </a:solidFill>
              </a:rPr>
              <a:t>Redistrict.</a:t>
            </a:r>
          </a:p>
        </p:txBody>
      </p:sp>
      <p:sp>
        <p:nvSpPr>
          <p:cNvPr id="53" name="Rectangle 52"/>
          <p:cNvSpPr/>
          <p:nvPr/>
        </p:nvSpPr>
        <p:spPr>
          <a:xfrm>
            <a:off x="10515600" y="5596128"/>
            <a:ext cx="182880" cy="182880"/>
          </a:xfrm>
          <a:prstGeom prst="rect">
            <a:avLst/>
          </a:prstGeom>
          <a:solidFill>
            <a:srgbClr val="C5C5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10744200" y="5577840"/>
            <a:ext cx="1097280" cy="256032"/>
          </a:xfrm>
          <a:prstGeom prst="rect">
            <a:avLst/>
          </a:prstGeom>
          <a:noFill/>
        </p:spPr>
        <p:txBody>
          <a:bodyPr wrap="square">
            <a:spAutoFit/>
          </a:bodyPr>
          <a:lstStyle/>
          <a:p>
            <a:pPr algn="l"/>
            <a:r>
              <a:rPr sz="1100" b="0" i="0">
                <a:solidFill>
                  <a:srgbClr val="1A1A1A"/>
                </a:solidFill>
              </a:rPr>
              <a:t>Local Gov</a:t>
            </a:r>
          </a:p>
        </p:txBody>
      </p:sp>
      <p:sp>
        <p:nvSpPr>
          <p:cNvPr id="55" name="Rectangle 54"/>
          <p:cNvSpPr/>
          <p:nvPr/>
        </p:nvSpPr>
        <p:spPr>
          <a:xfrm>
            <a:off x="457200" y="5989320"/>
            <a:ext cx="11274552" cy="18288"/>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320040" y="6099048"/>
            <a:ext cx="11521440" cy="502920"/>
          </a:xfrm>
          <a:prstGeom prst="rect">
            <a:avLst/>
          </a:prstGeom>
          <a:noFill/>
        </p:spPr>
        <p:txBody>
          <a:bodyPr wrap="square">
            <a:spAutoFit/>
          </a:bodyPr>
          <a:lstStyle/>
          <a:p>
            <a:pPr algn="l"/>
            <a:r>
              <a:rPr sz="1200" b="0" i="1">
                <a:solidFill>
                  <a:srgbClr val="555555"/>
                </a:solidFill>
              </a:rPr>
              <a:t>Republican bills concentrate on election rules and redistricting. Democratic bills are dominated by voter ID and registration. Divided-government states focus on local administrative procedures.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C47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64592"/>
            <a:ext cx="11247120" cy="731520"/>
          </a:xfrm>
          <a:prstGeom prst="rect">
            <a:avLst/>
          </a:prstGeom>
          <a:noFill/>
        </p:spPr>
        <p:txBody>
          <a:bodyPr wrap="square">
            <a:spAutoFit/>
          </a:bodyPr>
          <a:lstStyle/>
          <a:p>
            <a:pPr algn="l"/>
            <a:r>
              <a:rPr sz="3400" b="1" i="0">
                <a:solidFill>
                  <a:srgbClr val="1A1A1A"/>
                </a:solidFill>
              </a:rPr>
              <a:t>Finding 3: A Clear Partisan Divide in Bill Direction</a:t>
            </a:r>
          </a:p>
        </p:txBody>
      </p:sp>
      <p:sp>
        <p:nvSpPr>
          <p:cNvPr id="4" name="TextBox 3"/>
          <p:cNvSpPr txBox="1"/>
          <p:nvPr/>
        </p:nvSpPr>
        <p:spPr>
          <a:xfrm>
            <a:off x="457200" y="868680"/>
            <a:ext cx="11247120" cy="411480"/>
          </a:xfrm>
          <a:prstGeom prst="rect">
            <a:avLst/>
          </a:prstGeom>
          <a:noFill/>
        </p:spPr>
        <p:txBody>
          <a:bodyPr wrap="square">
            <a:spAutoFit/>
          </a:bodyPr>
          <a:lstStyle/>
          <a:p>
            <a:pPr algn="l"/>
            <a:r>
              <a:rPr sz="1800" b="0" i="0">
                <a:solidFill>
                  <a:srgbClr val="555555"/>
                </a:solidFill>
              </a:rPr>
              <a:t>Every Republican-controlled state bill was classified as Restrictive — Divided states were overwhelmingly Neutral</a:t>
            </a:r>
          </a:p>
        </p:txBody>
      </p:sp>
      <p:sp>
        <p:nvSpPr>
          <p:cNvPr id="5" name="TextBox 4"/>
          <p:cNvSpPr txBox="1"/>
          <p:nvPr/>
        </p:nvSpPr>
        <p:spPr>
          <a:xfrm>
            <a:off x="365760" y="1600200"/>
            <a:ext cx="3383280" cy="731520"/>
          </a:xfrm>
          <a:prstGeom prst="rect">
            <a:avLst/>
          </a:prstGeom>
          <a:noFill/>
        </p:spPr>
        <p:txBody>
          <a:bodyPr wrap="square">
            <a:spAutoFit/>
          </a:bodyPr>
          <a:lstStyle/>
          <a:p>
            <a:pPr algn="l"/>
            <a:r>
              <a:rPr sz="1300" b="1" i="0">
                <a:solidFill>
                  <a:srgbClr val="1A1A1A"/>
                </a:solidFill>
              </a:rPr>
              <a:t>Unified Republican
(n = 13)</a:t>
            </a:r>
          </a:p>
        </p:txBody>
      </p:sp>
      <p:sp>
        <p:nvSpPr>
          <p:cNvPr id="6" name="Rectangle 5"/>
          <p:cNvSpPr/>
          <p:nvPr/>
        </p:nvSpPr>
        <p:spPr>
          <a:xfrm>
            <a:off x="3840480" y="1463040"/>
            <a:ext cx="7772400" cy="731520"/>
          </a:xfrm>
          <a:prstGeom prst="rect">
            <a:avLst/>
          </a:prstGeom>
          <a:solidFill>
            <a:srgbClr val="B02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895344" y="1682496"/>
            <a:ext cx="7680960" cy="329184"/>
          </a:xfrm>
          <a:prstGeom prst="rect">
            <a:avLst/>
          </a:prstGeom>
          <a:noFill/>
        </p:spPr>
        <p:txBody>
          <a:bodyPr wrap="square">
            <a:spAutoFit/>
          </a:bodyPr>
          <a:lstStyle/>
          <a:p>
            <a:pPr algn="ctr"/>
            <a:r>
              <a:rPr sz="1500" b="1" i="0">
                <a:solidFill>
                  <a:srgbClr val="FFFFFF"/>
                </a:solidFill>
              </a:rPr>
              <a:t>100%</a:t>
            </a:r>
          </a:p>
        </p:txBody>
      </p:sp>
      <p:sp>
        <p:nvSpPr>
          <p:cNvPr id="8" name="TextBox 7"/>
          <p:cNvSpPr txBox="1"/>
          <p:nvPr/>
        </p:nvSpPr>
        <p:spPr>
          <a:xfrm>
            <a:off x="365760" y="2834640"/>
            <a:ext cx="3383280" cy="731520"/>
          </a:xfrm>
          <a:prstGeom prst="rect">
            <a:avLst/>
          </a:prstGeom>
          <a:noFill/>
        </p:spPr>
        <p:txBody>
          <a:bodyPr wrap="square">
            <a:spAutoFit/>
          </a:bodyPr>
          <a:lstStyle/>
          <a:p>
            <a:pPr algn="l"/>
            <a:r>
              <a:rPr sz="1300" b="1" i="0">
                <a:solidFill>
                  <a:srgbClr val="1A1A1A"/>
                </a:solidFill>
              </a:rPr>
              <a:t>Unified Democratic
(n = 24)</a:t>
            </a:r>
          </a:p>
        </p:txBody>
      </p:sp>
      <p:sp>
        <p:nvSpPr>
          <p:cNvPr id="9" name="Rectangle 8"/>
          <p:cNvSpPr/>
          <p:nvPr/>
        </p:nvSpPr>
        <p:spPr>
          <a:xfrm>
            <a:off x="3840480" y="2697480"/>
            <a:ext cx="4507992" cy="731520"/>
          </a:xfrm>
          <a:prstGeom prst="rect">
            <a:avLst/>
          </a:prstGeom>
          <a:solidFill>
            <a:srgbClr val="B02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895344" y="2916936"/>
            <a:ext cx="4416552" cy="329184"/>
          </a:xfrm>
          <a:prstGeom prst="rect">
            <a:avLst/>
          </a:prstGeom>
          <a:noFill/>
        </p:spPr>
        <p:txBody>
          <a:bodyPr wrap="square">
            <a:spAutoFit/>
          </a:bodyPr>
          <a:lstStyle/>
          <a:p>
            <a:pPr algn="ctr"/>
            <a:r>
              <a:rPr sz="1500" b="1" i="0">
                <a:solidFill>
                  <a:srgbClr val="FFFFFF"/>
                </a:solidFill>
              </a:rPr>
              <a:t>58%</a:t>
            </a:r>
          </a:p>
        </p:txBody>
      </p:sp>
      <p:sp>
        <p:nvSpPr>
          <p:cNvPr id="11" name="Rectangle 10"/>
          <p:cNvSpPr/>
          <p:nvPr/>
        </p:nvSpPr>
        <p:spPr>
          <a:xfrm>
            <a:off x="8348471" y="2697480"/>
            <a:ext cx="2564892" cy="731520"/>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03336" y="2916936"/>
            <a:ext cx="2473452" cy="329184"/>
          </a:xfrm>
          <a:prstGeom prst="rect">
            <a:avLst/>
          </a:prstGeom>
          <a:noFill/>
        </p:spPr>
        <p:txBody>
          <a:bodyPr wrap="square">
            <a:spAutoFit/>
          </a:bodyPr>
          <a:lstStyle/>
          <a:p>
            <a:pPr algn="ctr"/>
            <a:r>
              <a:rPr sz="1500" b="1" i="0">
                <a:solidFill>
                  <a:srgbClr val="FFFFFF"/>
                </a:solidFill>
              </a:rPr>
              <a:t>33%</a:t>
            </a:r>
          </a:p>
        </p:txBody>
      </p:sp>
      <p:sp>
        <p:nvSpPr>
          <p:cNvPr id="13" name="Rectangle 12"/>
          <p:cNvSpPr/>
          <p:nvPr/>
        </p:nvSpPr>
        <p:spPr>
          <a:xfrm>
            <a:off x="10913363" y="2697480"/>
            <a:ext cx="621792" cy="731520"/>
          </a:xfrm>
          <a:prstGeom prst="rect">
            <a:avLst/>
          </a:prstGeom>
          <a:solidFill>
            <a:srgbClr val="2C47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968228" y="2916936"/>
            <a:ext cx="530352" cy="329184"/>
          </a:xfrm>
          <a:prstGeom prst="rect">
            <a:avLst/>
          </a:prstGeom>
          <a:noFill/>
        </p:spPr>
        <p:txBody>
          <a:bodyPr wrap="square">
            <a:spAutoFit/>
          </a:bodyPr>
          <a:lstStyle/>
          <a:p>
            <a:pPr algn="ctr"/>
            <a:r>
              <a:rPr sz="1500" b="1" i="0">
                <a:solidFill>
                  <a:srgbClr val="FFFFFF"/>
                </a:solidFill>
              </a:rPr>
              <a:t>8%</a:t>
            </a:r>
          </a:p>
        </p:txBody>
      </p:sp>
      <p:sp>
        <p:nvSpPr>
          <p:cNvPr id="15" name="TextBox 14"/>
          <p:cNvSpPr txBox="1"/>
          <p:nvPr/>
        </p:nvSpPr>
        <p:spPr>
          <a:xfrm>
            <a:off x="365760" y="4069080"/>
            <a:ext cx="3383280" cy="731520"/>
          </a:xfrm>
          <a:prstGeom prst="rect">
            <a:avLst/>
          </a:prstGeom>
          <a:noFill/>
        </p:spPr>
        <p:txBody>
          <a:bodyPr wrap="square">
            <a:spAutoFit/>
          </a:bodyPr>
          <a:lstStyle/>
          <a:p>
            <a:pPr algn="l"/>
            <a:r>
              <a:rPr sz="1300" b="1" i="0">
                <a:solidFill>
                  <a:srgbClr val="1A1A1A"/>
                </a:solidFill>
              </a:rPr>
              <a:t>Divided Government
(n = 14)</a:t>
            </a:r>
          </a:p>
        </p:txBody>
      </p:sp>
      <p:sp>
        <p:nvSpPr>
          <p:cNvPr id="16" name="Rectangle 15"/>
          <p:cNvSpPr/>
          <p:nvPr/>
        </p:nvSpPr>
        <p:spPr>
          <a:xfrm>
            <a:off x="3840480" y="3931920"/>
            <a:ext cx="6684264" cy="731520"/>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895344" y="4151376"/>
            <a:ext cx="6592824" cy="329184"/>
          </a:xfrm>
          <a:prstGeom prst="rect">
            <a:avLst/>
          </a:prstGeom>
          <a:noFill/>
        </p:spPr>
        <p:txBody>
          <a:bodyPr wrap="square">
            <a:spAutoFit/>
          </a:bodyPr>
          <a:lstStyle/>
          <a:p>
            <a:pPr algn="ctr"/>
            <a:r>
              <a:rPr sz="1500" b="1" i="0">
                <a:solidFill>
                  <a:srgbClr val="FFFFFF"/>
                </a:solidFill>
              </a:rPr>
              <a:t>86%</a:t>
            </a:r>
          </a:p>
        </p:txBody>
      </p:sp>
      <p:sp>
        <p:nvSpPr>
          <p:cNvPr id="18" name="Rectangle 17"/>
          <p:cNvSpPr/>
          <p:nvPr/>
        </p:nvSpPr>
        <p:spPr>
          <a:xfrm>
            <a:off x="10524744" y="3931920"/>
            <a:ext cx="1088136" cy="731520"/>
          </a:xfrm>
          <a:prstGeom prst="rect">
            <a:avLst/>
          </a:prstGeom>
          <a:solidFill>
            <a:srgbClr val="2C47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579608" y="4151376"/>
            <a:ext cx="996696" cy="329184"/>
          </a:xfrm>
          <a:prstGeom prst="rect">
            <a:avLst/>
          </a:prstGeom>
          <a:noFill/>
        </p:spPr>
        <p:txBody>
          <a:bodyPr wrap="square">
            <a:spAutoFit/>
          </a:bodyPr>
          <a:lstStyle/>
          <a:p>
            <a:pPr algn="ctr"/>
            <a:r>
              <a:rPr sz="1500" b="1" i="0">
                <a:solidFill>
                  <a:srgbClr val="FFFFFF"/>
                </a:solidFill>
              </a:rPr>
              <a:t>14%</a:t>
            </a:r>
          </a:p>
        </p:txBody>
      </p:sp>
      <p:sp>
        <p:nvSpPr>
          <p:cNvPr id="20" name="TextBox 19"/>
          <p:cNvSpPr txBox="1"/>
          <p:nvPr/>
        </p:nvSpPr>
        <p:spPr>
          <a:xfrm>
            <a:off x="365760" y="5303520"/>
            <a:ext cx="3383280" cy="731520"/>
          </a:xfrm>
          <a:prstGeom prst="rect">
            <a:avLst/>
          </a:prstGeom>
          <a:noFill/>
        </p:spPr>
        <p:txBody>
          <a:bodyPr wrap="square">
            <a:spAutoFit/>
          </a:bodyPr>
          <a:lstStyle/>
          <a:p>
            <a:pPr algn="l"/>
            <a:r>
              <a:rPr sz="1300" b="1" i="0">
                <a:solidFill>
                  <a:srgbClr val="1A1A1A"/>
                </a:solidFill>
              </a:rPr>
              <a:t>Overall
(n = 51)</a:t>
            </a:r>
          </a:p>
        </p:txBody>
      </p:sp>
      <p:sp>
        <p:nvSpPr>
          <p:cNvPr id="21" name="Rectangle 20"/>
          <p:cNvSpPr/>
          <p:nvPr/>
        </p:nvSpPr>
        <p:spPr>
          <a:xfrm>
            <a:off x="3840480" y="5166360"/>
            <a:ext cx="4119372" cy="731520"/>
          </a:xfrm>
          <a:prstGeom prst="rect">
            <a:avLst/>
          </a:prstGeom>
          <a:solidFill>
            <a:srgbClr val="B02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895344" y="5385816"/>
            <a:ext cx="4027932" cy="329184"/>
          </a:xfrm>
          <a:prstGeom prst="rect">
            <a:avLst/>
          </a:prstGeom>
          <a:noFill/>
        </p:spPr>
        <p:txBody>
          <a:bodyPr wrap="square">
            <a:spAutoFit/>
          </a:bodyPr>
          <a:lstStyle/>
          <a:p>
            <a:pPr algn="ctr"/>
            <a:r>
              <a:rPr sz="1500" b="1" i="0">
                <a:solidFill>
                  <a:srgbClr val="FFFFFF"/>
                </a:solidFill>
              </a:rPr>
              <a:t>53%</a:t>
            </a:r>
          </a:p>
        </p:txBody>
      </p:sp>
      <p:sp>
        <p:nvSpPr>
          <p:cNvPr id="23" name="Rectangle 22"/>
          <p:cNvSpPr/>
          <p:nvPr/>
        </p:nvSpPr>
        <p:spPr>
          <a:xfrm>
            <a:off x="7959852" y="5166360"/>
            <a:ext cx="3031236" cy="731520"/>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014716" y="5385816"/>
            <a:ext cx="2939796" cy="329184"/>
          </a:xfrm>
          <a:prstGeom prst="rect">
            <a:avLst/>
          </a:prstGeom>
          <a:noFill/>
        </p:spPr>
        <p:txBody>
          <a:bodyPr wrap="square">
            <a:spAutoFit/>
          </a:bodyPr>
          <a:lstStyle/>
          <a:p>
            <a:pPr algn="ctr"/>
            <a:r>
              <a:rPr sz="1500" b="1" i="0">
                <a:solidFill>
                  <a:srgbClr val="FFFFFF"/>
                </a:solidFill>
              </a:rPr>
              <a:t>39%</a:t>
            </a:r>
          </a:p>
        </p:txBody>
      </p:sp>
      <p:sp>
        <p:nvSpPr>
          <p:cNvPr id="25" name="Rectangle 24"/>
          <p:cNvSpPr/>
          <p:nvPr/>
        </p:nvSpPr>
        <p:spPr>
          <a:xfrm>
            <a:off x="10991088" y="5166360"/>
            <a:ext cx="621792" cy="731520"/>
          </a:xfrm>
          <a:prstGeom prst="rect">
            <a:avLst/>
          </a:prstGeom>
          <a:solidFill>
            <a:srgbClr val="2C47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1045952" y="5385816"/>
            <a:ext cx="530352" cy="329184"/>
          </a:xfrm>
          <a:prstGeom prst="rect">
            <a:avLst/>
          </a:prstGeom>
          <a:noFill/>
        </p:spPr>
        <p:txBody>
          <a:bodyPr wrap="square">
            <a:spAutoFit/>
          </a:bodyPr>
          <a:lstStyle/>
          <a:p>
            <a:pPr algn="ctr"/>
            <a:r>
              <a:rPr sz="1500" b="1" i="0">
                <a:solidFill>
                  <a:srgbClr val="FFFFFF"/>
                </a:solidFill>
              </a:rPr>
              <a:t>8%</a:t>
            </a:r>
          </a:p>
        </p:txBody>
      </p:sp>
      <p:sp>
        <p:nvSpPr>
          <p:cNvPr id="27" name="Rectangle 26"/>
          <p:cNvSpPr/>
          <p:nvPr/>
        </p:nvSpPr>
        <p:spPr>
          <a:xfrm>
            <a:off x="3840480" y="6309360"/>
            <a:ext cx="201168" cy="201168"/>
          </a:xfrm>
          <a:prstGeom prst="rect">
            <a:avLst/>
          </a:prstGeom>
          <a:solidFill>
            <a:srgbClr val="B02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114800" y="6291072"/>
            <a:ext cx="1828800" cy="256032"/>
          </a:xfrm>
          <a:prstGeom prst="rect">
            <a:avLst/>
          </a:prstGeom>
          <a:noFill/>
        </p:spPr>
        <p:txBody>
          <a:bodyPr wrap="square">
            <a:spAutoFit/>
          </a:bodyPr>
          <a:lstStyle/>
          <a:p>
            <a:pPr algn="l"/>
            <a:r>
              <a:rPr sz="1300" b="0" i="0">
                <a:solidFill>
                  <a:srgbClr val="1A1A1A"/>
                </a:solidFill>
              </a:rPr>
              <a:t>Restrictive</a:t>
            </a:r>
          </a:p>
        </p:txBody>
      </p:sp>
      <p:sp>
        <p:nvSpPr>
          <p:cNvPr id="29" name="Rectangle 28"/>
          <p:cNvSpPr/>
          <p:nvPr/>
        </p:nvSpPr>
        <p:spPr>
          <a:xfrm>
            <a:off x="6400800" y="6309360"/>
            <a:ext cx="201168" cy="201168"/>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675120" y="6291072"/>
            <a:ext cx="1828800" cy="256032"/>
          </a:xfrm>
          <a:prstGeom prst="rect">
            <a:avLst/>
          </a:prstGeom>
          <a:noFill/>
        </p:spPr>
        <p:txBody>
          <a:bodyPr wrap="square">
            <a:spAutoFit/>
          </a:bodyPr>
          <a:lstStyle/>
          <a:p>
            <a:pPr algn="l"/>
            <a:r>
              <a:rPr sz="1300" b="0" i="0">
                <a:solidFill>
                  <a:srgbClr val="1A1A1A"/>
                </a:solidFill>
              </a:rPr>
              <a:t>Neutral</a:t>
            </a:r>
          </a:p>
        </p:txBody>
      </p:sp>
      <p:sp>
        <p:nvSpPr>
          <p:cNvPr id="31" name="Rectangle 30"/>
          <p:cNvSpPr/>
          <p:nvPr/>
        </p:nvSpPr>
        <p:spPr>
          <a:xfrm>
            <a:off x="8961120" y="6309360"/>
            <a:ext cx="201168" cy="201168"/>
          </a:xfrm>
          <a:prstGeom prst="rect">
            <a:avLst/>
          </a:prstGeom>
          <a:solidFill>
            <a:srgbClr val="2C47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235440" y="6291072"/>
            <a:ext cx="1828800" cy="256032"/>
          </a:xfrm>
          <a:prstGeom prst="rect">
            <a:avLst/>
          </a:prstGeom>
          <a:noFill/>
        </p:spPr>
        <p:txBody>
          <a:bodyPr wrap="square">
            <a:spAutoFit/>
          </a:bodyPr>
          <a:lstStyle/>
          <a:p>
            <a:pPr algn="l"/>
            <a:r>
              <a:rPr sz="1300" b="0" i="0">
                <a:solidFill>
                  <a:srgbClr val="1A1A1A"/>
                </a:solidFill>
              </a:rPr>
              <a:t>Expansive</a:t>
            </a:r>
          </a:p>
        </p:txBody>
      </p:sp>
      <p:sp>
        <p:nvSpPr>
          <p:cNvPr id="33" name="Rectangle 32"/>
          <p:cNvSpPr/>
          <p:nvPr/>
        </p:nvSpPr>
        <p:spPr>
          <a:xfrm>
            <a:off x="475640" y="5908204"/>
            <a:ext cx="11274552" cy="18288"/>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65760" y="5879592"/>
            <a:ext cx="11521440" cy="685800"/>
          </a:xfrm>
          <a:prstGeom prst="rect">
            <a:avLst/>
          </a:prstGeom>
          <a:noFill/>
        </p:spPr>
        <p:txBody>
          <a:bodyPr wrap="square">
            <a:spAutoFit/>
          </a:bodyPr>
          <a:lstStyle/>
          <a:p>
            <a:pPr algn="l"/>
            <a:r>
              <a:rPr sz="1200" b="0" i="1">
                <a:solidFill>
                  <a:srgbClr val="555555"/>
                </a:solidFill>
              </a:rPr>
              <a:t>Note: Many Democratic "Restrictive" bills are absentee ballot reforms in Minnesota — the AI flags any new procedural requirement as Restrictive regardless of political intent. In context, these represent administrative modernization, not intentional access barriers.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C47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64592"/>
            <a:ext cx="11247120" cy="731520"/>
          </a:xfrm>
          <a:prstGeom prst="rect">
            <a:avLst/>
          </a:prstGeom>
          <a:noFill/>
        </p:spPr>
        <p:txBody>
          <a:bodyPr wrap="square">
            <a:spAutoFit/>
          </a:bodyPr>
          <a:lstStyle/>
          <a:p>
            <a:pPr algn="l"/>
            <a:r>
              <a:rPr sz="3400" b="1" i="0">
                <a:solidFill>
                  <a:srgbClr val="1A1A1A"/>
                </a:solidFill>
              </a:rPr>
              <a:t>Finding 4: Who Is Sponsoring These Bills?</a:t>
            </a:r>
          </a:p>
        </p:txBody>
      </p:sp>
      <p:sp>
        <p:nvSpPr>
          <p:cNvPr id="4" name="TextBox 3"/>
          <p:cNvSpPr txBox="1"/>
          <p:nvPr/>
        </p:nvSpPr>
        <p:spPr>
          <a:xfrm>
            <a:off x="457200" y="868680"/>
            <a:ext cx="11247120" cy="411480"/>
          </a:xfrm>
          <a:prstGeom prst="rect">
            <a:avLst/>
          </a:prstGeom>
          <a:noFill/>
        </p:spPr>
        <p:txBody>
          <a:bodyPr wrap="square">
            <a:spAutoFit/>
          </a:bodyPr>
          <a:lstStyle/>
          <a:p>
            <a:pPr algn="l"/>
            <a:r>
              <a:rPr sz="1800" b="0" i="0">
                <a:solidFill>
                  <a:srgbClr val="555555"/>
                </a:solidFill>
              </a:rPr>
              <a:t>Sponsor party reveals minority-party activity — especially in Democratic-controlled states</a:t>
            </a:r>
          </a:p>
        </p:txBody>
      </p:sp>
      <p:sp>
        <p:nvSpPr>
          <p:cNvPr id="5" name="TextBox 4"/>
          <p:cNvSpPr txBox="1"/>
          <p:nvPr/>
        </p:nvSpPr>
        <p:spPr>
          <a:xfrm>
            <a:off x="1097280" y="1417320"/>
            <a:ext cx="2743200" cy="777240"/>
          </a:xfrm>
          <a:prstGeom prst="rect">
            <a:avLst/>
          </a:prstGeom>
          <a:noFill/>
        </p:spPr>
        <p:txBody>
          <a:bodyPr wrap="square">
            <a:spAutoFit/>
          </a:bodyPr>
          <a:lstStyle/>
          <a:p>
            <a:pPr algn="ctr"/>
            <a:r>
              <a:rPr sz="4600" b="1" i="0">
                <a:solidFill>
                  <a:srgbClr val="B0281A"/>
                </a:solidFill>
              </a:rPr>
              <a:t>85%</a:t>
            </a:r>
          </a:p>
        </p:txBody>
      </p:sp>
      <p:sp>
        <p:nvSpPr>
          <p:cNvPr id="6" name="TextBox 5"/>
          <p:cNvSpPr txBox="1"/>
          <p:nvPr/>
        </p:nvSpPr>
        <p:spPr>
          <a:xfrm>
            <a:off x="1097280" y="2176272"/>
            <a:ext cx="2743200" cy="347472"/>
          </a:xfrm>
          <a:prstGeom prst="rect">
            <a:avLst/>
          </a:prstGeom>
          <a:noFill/>
        </p:spPr>
        <p:txBody>
          <a:bodyPr wrap="square">
            <a:spAutoFit/>
          </a:bodyPr>
          <a:lstStyle/>
          <a:p>
            <a:pPr algn="ctr"/>
            <a:r>
              <a:rPr sz="1400" b="1" i="0">
                <a:solidFill>
                  <a:srgbClr val="1A1A1A"/>
                </a:solidFill>
              </a:rPr>
              <a:t>Republican-sponsored</a:t>
            </a:r>
          </a:p>
        </p:txBody>
      </p:sp>
      <p:sp>
        <p:nvSpPr>
          <p:cNvPr id="7" name="TextBox 6"/>
          <p:cNvSpPr txBox="1"/>
          <p:nvPr/>
        </p:nvSpPr>
        <p:spPr>
          <a:xfrm>
            <a:off x="1097280" y="2514600"/>
            <a:ext cx="2743200" cy="502920"/>
          </a:xfrm>
          <a:prstGeom prst="rect">
            <a:avLst/>
          </a:prstGeom>
          <a:noFill/>
        </p:spPr>
        <p:txBody>
          <a:bodyPr wrap="square">
            <a:spAutoFit/>
          </a:bodyPr>
          <a:lstStyle/>
          <a:p>
            <a:pPr algn="ctr"/>
            <a:r>
              <a:rPr sz="1300" b="0" i="0">
                <a:solidFill>
                  <a:srgbClr val="555555"/>
                </a:solidFill>
              </a:rPr>
              <a:t>in Republican-controlled states
(11 of 13 bills)</a:t>
            </a:r>
          </a:p>
        </p:txBody>
      </p:sp>
      <p:sp>
        <p:nvSpPr>
          <p:cNvPr id="8" name="TextBox 7"/>
          <p:cNvSpPr txBox="1"/>
          <p:nvPr/>
        </p:nvSpPr>
        <p:spPr>
          <a:xfrm>
            <a:off x="4663440" y="1417320"/>
            <a:ext cx="2743200" cy="777240"/>
          </a:xfrm>
          <a:prstGeom prst="rect">
            <a:avLst/>
          </a:prstGeom>
          <a:noFill/>
        </p:spPr>
        <p:txBody>
          <a:bodyPr wrap="square">
            <a:spAutoFit/>
          </a:bodyPr>
          <a:lstStyle/>
          <a:p>
            <a:pPr algn="ctr"/>
            <a:r>
              <a:rPr sz="4600" b="1" i="0">
                <a:solidFill>
                  <a:srgbClr val="555555"/>
                </a:solidFill>
              </a:rPr>
              <a:t>54%</a:t>
            </a:r>
          </a:p>
        </p:txBody>
      </p:sp>
      <p:sp>
        <p:nvSpPr>
          <p:cNvPr id="9" name="TextBox 8"/>
          <p:cNvSpPr txBox="1"/>
          <p:nvPr/>
        </p:nvSpPr>
        <p:spPr>
          <a:xfrm>
            <a:off x="4663440" y="2176272"/>
            <a:ext cx="2743200" cy="347472"/>
          </a:xfrm>
          <a:prstGeom prst="rect">
            <a:avLst/>
          </a:prstGeom>
          <a:noFill/>
        </p:spPr>
        <p:txBody>
          <a:bodyPr wrap="square">
            <a:spAutoFit/>
          </a:bodyPr>
          <a:lstStyle/>
          <a:p>
            <a:pPr algn="ctr"/>
            <a:r>
              <a:rPr sz="1400" b="1" i="0">
                <a:solidFill>
                  <a:srgbClr val="1A1A1A"/>
                </a:solidFill>
              </a:rPr>
              <a:t>Republican-sponsored</a:t>
            </a:r>
          </a:p>
        </p:txBody>
      </p:sp>
      <p:sp>
        <p:nvSpPr>
          <p:cNvPr id="10" name="TextBox 9"/>
          <p:cNvSpPr txBox="1"/>
          <p:nvPr/>
        </p:nvSpPr>
        <p:spPr>
          <a:xfrm>
            <a:off x="4663440" y="2514600"/>
            <a:ext cx="2743200" cy="502920"/>
          </a:xfrm>
          <a:prstGeom prst="rect">
            <a:avLst/>
          </a:prstGeom>
          <a:noFill/>
        </p:spPr>
        <p:txBody>
          <a:bodyPr wrap="square">
            <a:spAutoFit/>
          </a:bodyPr>
          <a:lstStyle/>
          <a:p>
            <a:pPr algn="ctr"/>
            <a:r>
              <a:rPr sz="1300" b="0" i="0">
                <a:solidFill>
                  <a:srgbClr val="555555"/>
                </a:solidFill>
              </a:rPr>
              <a:t>in Democratic-controlled states
(22 of 41 bills)</a:t>
            </a:r>
          </a:p>
        </p:txBody>
      </p:sp>
      <p:sp>
        <p:nvSpPr>
          <p:cNvPr id="11" name="TextBox 10"/>
          <p:cNvSpPr txBox="1"/>
          <p:nvPr/>
        </p:nvSpPr>
        <p:spPr>
          <a:xfrm>
            <a:off x="8229600" y="1417320"/>
            <a:ext cx="2743200" cy="777240"/>
          </a:xfrm>
          <a:prstGeom prst="rect">
            <a:avLst/>
          </a:prstGeom>
          <a:noFill/>
        </p:spPr>
        <p:txBody>
          <a:bodyPr wrap="square">
            <a:spAutoFit/>
          </a:bodyPr>
          <a:lstStyle/>
          <a:p>
            <a:pPr algn="ctr"/>
            <a:r>
              <a:rPr sz="4600" b="1" i="0">
                <a:solidFill>
                  <a:srgbClr val="2C4770"/>
                </a:solidFill>
              </a:rPr>
              <a:t>65%</a:t>
            </a:r>
          </a:p>
        </p:txBody>
      </p:sp>
      <p:sp>
        <p:nvSpPr>
          <p:cNvPr id="12" name="TextBox 11"/>
          <p:cNvSpPr txBox="1"/>
          <p:nvPr/>
        </p:nvSpPr>
        <p:spPr>
          <a:xfrm>
            <a:off x="8229600" y="2176272"/>
            <a:ext cx="2743200" cy="347472"/>
          </a:xfrm>
          <a:prstGeom prst="rect">
            <a:avLst/>
          </a:prstGeom>
          <a:noFill/>
        </p:spPr>
        <p:txBody>
          <a:bodyPr wrap="square">
            <a:spAutoFit/>
          </a:bodyPr>
          <a:lstStyle/>
          <a:p>
            <a:pPr algn="ctr"/>
            <a:r>
              <a:rPr sz="1400" b="1" i="0">
                <a:solidFill>
                  <a:srgbClr val="1A1A1A"/>
                </a:solidFill>
              </a:rPr>
              <a:t>Democratic-sponsored</a:t>
            </a:r>
          </a:p>
        </p:txBody>
      </p:sp>
      <p:sp>
        <p:nvSpPr>
          <p:cNvPr id="13" name="TextBox 12"/>
          <p:cNvSpPr txBox="1"/>
          <p:nvPr/>
        </p:nvSpPr>
        <p:spPr>
          <a:xfrm>
            <a:off x="8229600" y="2514600"/>
            <a:ext cx="2743200" cy="502920"/>
          </a:xfrm>
          <a:prstGeom prst="rect">
            <a:avLst/>
          </a:prstGeom>
          <a:noFill/>
        </p:spPr>
        <p:txBody>
          <a:bodyPr wrap="square">
            <a:spAutoFit/>
          </a:bodyPr>
          <a:lstStyle/>
          <a:p>
            <a:pPr algn="ctr"/>
            <a:r>
              <a:rPr sz="1300" b="0" i="0">
                <a:solidFill>
                  <a:srgbClr val="555555"/>
                </a:solidFill>
              </a:rPr>
              <a:t>in Divided-government states
(15 of 23 bills)</a:t>
            </a:r>
          </a:p>
        </p:txBody>
      </p:sp>
      <p:sp>
        <p:nvSpPr>
          <p:cNvPr id="14" name="Rectangle 13"/>
          <p:cNvSpPr/>
          <p:nvPr/>
        </p:nvSpPr>
        <p:spPr>
          <a:xfrm>
            <a:off x="457200" y="3154680"/>
            <a:ext cx="11274552" cy="18288"/>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48640" y="3310128"/>
            <a:ext cx="10881360" cy="365760"/>
          </a:xfrm>
          <a:prstGeom prst="rect">
            <a:avLst/>
          </a:prstGeom>
          <a:noFill/>
        </p:spPr>
        <p:txBody>
          <a:bodyPr wrap="square">
            <a:spAutoFit/>
          </a:bodyPr>
          <a:lstStyle/>
          <a:p>
            <a:pPr algn="l"/>
            <a:r>
              <a:rPr sz="1600" b="1" i="0">
                <a:solidFill>
                  <a:srgbClr val="2C4770"/>
                </a:solidFill>
              </a:rPr>
              <a:t>What this tells us</a:t>
            </a:r>
          </a:p>
        </p:txBody>
      </p:sp>
      <p:sp>
        <p:nvSpPr>
          <p:cNvPr id="16" name="TextBox 15"/>
          <p:cNvSpPr txBox="1"/>
          <p:nvPr/>
        </p:nvSpPr>
        <p:spPr>
          <a:xfrm>
            <a:off x="548640" y="3730752"/>
            <a:ext cx="11064240" cy="1920240"/>
          </a:xfrm>
          <a:prstGeom prst="rect">
            <a:avLst/>
          </a:prstGeom>
          <a:noFill/>
        </p:spPr>
        <p:txBody>
          <a:bodyPr wrap="square">
            <a:spAutoFit/>
          </a:bodyPr>
          <a:lstStyle/>
          <a:p>
            <a:pPr algn="l"/>
            <a:r>
              <a:rPr sz="1500" b="0" i="0">
                <a:solidFill>
                  <a:srgbClr val="1A1A1A"/>
                </a:solidFill>
              </a:rPr>
              <a:t>The high Republican sponsorship rate in Democratic-controlled states shows that minority-party legislators also introduce voting bills — even when those bills are unlikely to pass. LegiScan returns all introduced bills, not just enacted ones, so the corpus captures the full range of legislative intent rather than only successful legislation.
Future research should distinguish between bills that were enacted and bills that died in committee, as the direction and content of enacted bills may differ substantially.</a:t>
            </a:r>
          </a:p>
        </p:txBody>
      </p:sp>
      <p:sp>
        <p:nvSpPr>
          <p:cNvPr id="17" name="Rectangle 16"/>
          <p:cNvSpPr/>
          <p:nvPr/>
        </p:nvSpPr>
        <p:spPr>
          <a:xfrm>
            <a:off x="457200" y="5806440"/>
            <a:ext cx="11274552" cy="18288"/>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48640" y="5925312"/>
            <a:ext cx="11064240" cy="365760"/>
          </a:xfrm>
          <a:prstGeom prst="rect">
            <a:avLst/>
          </a:prstGeom>
          <a:noFill/>
        </p:spPr>
        <p:txBody>
          <a:bodyPr wrap="square">
            <a:spAutoFit/>
          </a:bodyPr>
          <a:lstStyle/>
          <a:p>
            <a:pPr algn="l"/>
            <a:r>
              <a:rPr sz="1200" b="0" i="1">
                <a:solidFill>
                  <a:srgbClr val="555555"/>
                </a:solidFill>
              </a:rPr>
              <a:t>Sponsor party identified for 77 of 83 bills. Six bills had no identified primary sponsor in LegiScan.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C47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64592"/>
            <a:ext cx="11247120" cy="731520"/>
          </a:xfrm>
          <a:prstGeom prst="rect">
            <a:avLst/>
          </a:prstGeom>
          <a:noFill/>
        </p:spPr>
        <p:txBody>
          <a:bodyPr wrap="square">
            <a:spAutoFit/>
          </a:bodyPr>
          <a:lstStyle/>
          <a:p>
            <a:pPr algn="l"/>
            <a:r>
              <a:rPr sz="3400" b="1" i="0">
                <a:solidFill>
                  <a:srgbClr val="1A1A1A"/>
                </a:solidFill>
              </a:rPr>
              <a:t>Supplementary: Distinctive Vocabulary by Chamber Control</a:t>
            </a:r>
          </a:p>
        </p:txBody>
      </p:sp>
      <p:sp>
        <p:nvSpPr>
          <p:cNvPr id="4" name="TextBox 3"/>
          <p:cNvSpPr txBox="1"/>
          <p:nvPr/>
        </p:nvSpPr>
        <p:spPr>
          <a:xfrm>
            <a:off x="457200" y="868680"/>
            <a:ext cx="11247120" cy="411480"/>
          </a:xfrm>
          <a:prstGeom prst="rect">
            <a:avLst/>
          </a:prstGeom>
          <a:noFill/>
        </p:spPr>
        <p:txBody>
          <a:bodyPr wrap="square">
            <a:spAutoFit/>
          </a:bodyPr>
          <a:lstStyle/>
          <a:p>
            <a:pPr algn="l"/>
            <a:r>
              <a:rPr sz="1800" b="0" i="0">
                <a:solidFill>
                  <a:srgbClr val="555555"/>
                </a:solidFill>
              </a:rPr>
              <a:t>Keyness analysis using Senate and House Democratic control as the grouping variable (10-state subset)</a:t>
            </a:r>
          </a:p>
        </p:txBody>
      </p:sp>
      <p:sp>
        <p:nvSpPr>
          <p:cNvPr id="5" name="TextBox 4"/>
          <p:cNvSpPr txBox="1"/>
          <p:nvPr/>
        </p:nvSpPr>
        <p:spPr>
          <a:xfrm>
            <a:off x="457200" y="1325880"/>
            <a:ext cx="5394960" cy="347472"/>
          </a:xfrm>
          <a:prstGeom prst="rect">
            <a:avLst/>
          </a:prstGeom>
          <a:noFill/>
        </p:spPr>
        <p:txBody>
          <a:bodyPr wrap="square">
            <a:spAutoFit/>
          </a:bodyPr>
          <a:lstStyle/>
          <a:p>
            <a:pPr algn="l"/>
            <a:r>
              <a:rPr sz="1500" b="1" i="0">
                <a:solidFill>
                  <a:srgbClr val="2C4770"/>
                </a:solidFill>
              </a:rPr>
              <a:t>Senate Democratic Control</a:t>
            </a:r>
          </a:p>
        </p:txBody>
      </p:sp>
      <p:pic>
        <p:nvPicPr>
          <p:cNvPr id="6" name="Picture 5" descr="draft1_keyness_senate.png"/>
          <p:cNvPicPr>
            <a:picLocks noChangeAspect="1"/>
          </p:cNvPicPr>
          <p:nvPr/>
        </p:nvPicPr>
        <p:blipFill>
          <a:blip r:embed="rId2"/>
          <a:stretch>
            <a:fillRect/>
          </a:stretch>
        </p:blipFill>
        <p:spPr>
          <a:xfrm>
            <a:off x="365760" y="1719072"/>
            <a:ext cx="5577840" cy="3931920"/>
          </a:xfrm>
          <a:prstGeom prst="rect">
            <a:avLst/>
          </a:prstGeom>
        </p:spPr>
      </p:pic>
      <p:sp>
        <p:nvSpPr>
          <p:cNvPr id="7" name="TextBox 6"/>
          <p:cNvSpPr txBox="1"/>
          <p:nvPr/>
        </p:nvSpPr>
        <p:spPr>
          <a:xfrm>
            <a:off x="6217920" y="1325880"/>
            <a:ext cx="5394960" cy="347472"/>
          </a:xfrm>
          <a:prstGeom prst="rect">
            <a:avLst/>
          </a:prstGeom>
          <a:noFill/>
        </p:spPr>
        <p:txBody>
          <a:bodyPr wrap="square">
            <a:spAutoFit/>
          </a:bodyPr>
          <a:lstStyle/>
          <a:p>
            <a:pPr algn="l"/>
            <a:r>
              <a:rPr sz="1500" b="1" i="0">
                <a:solidFill>
                  <a:srgbClr val="2C4770"/>
                </a:solidFill>
              </a:rPr>
              <a:t>House Democratic Control</a:t>
            </a:r>
          </a:p>
        </p:txBody>
      </p:sp>
      <p:pic>
        <p:nvPicPr>
          <p:cNvPr id="8" name="Picture 7" descr="draft1_keyness_house.png"/>
          <p:cNvPicPr>
            <a:picLocks noChangeAspect="1"/>
          </p:cNvPicPr>
          <p:nvPr/>
        </p:nvPicPr>
        <p:blipFill>
          <a:blip r:embed="rId3"/>
          <a:stretch>
            <a:fillRect/>
          </a:stretch>
        </p:blipFill>
        <p:spPr>
          <a:xfrm>
            <a:off x="6126480" y="1719072"/>
            <a:ext cx="5577840" cy="3931920"/>
          </a:xfrm>
          <a:prstGeom prst="rect">
            <a:avLst/>
          </a:prstGeom>
        </p:spPr>
      </p:pic>
      <p:sp>
        <p:nvSpPr>
          <p:cNvPr id="9" name="Rectangle 8"/>
          <p:cNvSpPr/>
          <p:nvPr/>
        </p:nvSpPr>
        <p:spPr>
          <a:xfrm>
            <a:off x="457200" y="5806440"/>
            <a:ext cx="11274552" cy="18288"/>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5925312"/>
            <a:ext cx="11247120" cy="594360"/>
          </a:xfrm>
          <a:prstGeom prst="rect">
            <a:avLst/>
          </a:prstGeom>
          <a:noFill/>
        </p:spPr>
        <p:txBody>
          <a:bodyPr wrap="square">
            <a:spAutoFit/>
          </a:bodyPr>
          <a:lstStyle/>
          <a:p>
            <a:pPr algn="l"/>
            <a:r>
              <a:rPr sz="1100" b="0" i="1">
                <a:solidFill>
                  <a:srgbClr val="555555"/>
                </a:solidFill>
              </a:rPr>
              <a:t>States coded 1 (Dem control) vs. 0 (non-Dem) for each chamber independently. Subset covers 10 states: AK, KS, MN, MO, NE, NM, OH, OK, UT, WA. Bar direction reflects signed chi-squared — rightward = more frequent in Dem-controlled states.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C47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64592"/>
            <a:ext cx="11247120" cy="731520"/>
          </a:xfrm>
          <a:prstGeom prst="rect">
            <a:avLst/>
          </a:prstGeom>
          <a:noFill/>
        </p:spPr>
        <p:txBody>
          <a:bodyPr wrap="square">
            <a:spAutoFit/>
          </a:bodyPr>
          <a:lstStyle/>
          <a:p>
            <a:pPr algn="l"/>
            <a:r>
              <a:rPr sz="3400" b="1" i="0">
                <a:solidFill>
                  <a:srgbClr val="1A1A1A"/>
                </a:solidFill>
              </a:rPr>
              <a:t>Supplementary: Policy Areas and LDA Topics by State</a:t>
            </a:r>
          </a:p>
        </p:txBody>
      </p:sp>
      <p:sp>
        <p:nvSpPr>
          <p:cNvPr id="4" name="TextBox 3"/>
          <p:cNvSpPr txBox="1"/>
          <p:nvPr/>
        </p:nvSpPr>
        <p:spPr>
          <a:xfrm>
            <a:off x="457200" y="868680"/>
            <a:ext cx="11247120" cy="411480"/>
          </a:xfrm>
          <a:prstGeom prst="rect">
            <a:avLst/>
          </a:prstGeom>
          <a:noFill/>
        </p:spPr>
        <p:txBody>
          <a:bodyPr wrap="square">
            <a:spAutoFit/>
          </a:bodyPr>
          <a:lstStyle/>
          <a:p>
            <a:pPr algn="l"/>
            <a:r>
              <a:rPr sz="1800" b="0" i="0">
                <a:solidFill>
                  <a:srgbClr val="555555"/>
                </a:solidFill>
              </a:rPr>
              <a:t>Dictionary-based policy classification and unsupervised topic modeling (k=3) — LegiscanDraft 1</a:t>
            </a:r>
          </a:p>
        </p:txBody>
      </p:sp>
      <p:sp>
        <p:nvSpPr>
          <p:cNvPr id="5" name="TextBox 4"/>
          <p:cNvSpPr txBox="1"/>
          <p:nvPr/>
        </p:nvSpPr>
        <p:spPr>
          <a:xfrm>
            <a:off x="457200" y="1325880"/>
            <a:ext cx="5394960" cy="347472"/>
          </a:xfrm>
          <a:prstGeom prst="rect">
            <a:avLst/>
          </a:prstGeom>
          <a:noFill/>
        </p:spPr>
        <p:txBody>
          <a:bodyPr wrap="square">
            <a:spAutoFit/>
          </a:bodyPr>
          <a:lstStyle/>
          <a:p>
            <a:pPr algn="l"/>
            <a:r>
              <a:rPr sz="1500" b="1" i="0">
                <a:solidFill>
                  <a:srgbClr val="2C4770"/>
                </a:solidFill>
              </a:rPr>
              <a:t>Dominant Policy Area by State</a:t>
            </a:r>
          </a:p>
        </p:txBody>
      </p:sp>
      <p:pic>
        <p:nvPicPr>
          <p:cNvPr id="6" name="Picture 5" descr="draft1_policy_by_state.png"/>
          <p:cNvPicPr>
            <a:picLocks noChangeAspect="1"/>
          </p:cNvPicPr>
          <p:nvPr/>
        </p:nvPicPr>
        <p:blipFill>
          <a:blip r:embed="rId2"/>
          <a:stretch>
            <a:fillRect/>
          </a:stretch>
        </p:blipFill>
        <p:spPr>
          <a:xfrm>
            <a:off x="365760" y="1719072"/>
            <a:ext cx="5577840" cy="3931920"/>
          </a:xfrm>
          <a:prstGeom prst="rect">
            <a:avLst/>
          </a:prstGeom>
        </p:spPr>
      </p:pic>
      <p:sp>
        <p:nvSpPr>
          <p:cNvPr id="7" name="TextBox 6"/>
          <p:cNvSpPr txBox="1"/>
          <p:nvPr/>
        </p:nvSpPr>
        <p:spPr>
          <a:xfrm>
            <a:off x="6217920" y="1325880"/>
            <a:ext cx="5394960" cy="347472"/>
          </a:xfrm>
          <a:prstGeom prst="rect">
            <a:avLst/>
          </a:prstGeom>
          <a:noFill/>
        </p:spPr>
        <p:txBody>
          <a:bodyPr wrap="square">
            <a:spAutoFit/>
          </a:bodyPr>
          <a:lstStyle/>
          <a:p>
            <a:pPr algn="l"/>
            <a:r>
              <a:rPr sz="1500" b="1" i="0">
                <a:solidFill>
                  <a:srgbClr val="2C4770"/>
                </a:solidFill>
              </a:rPr>
              <a:t>Dominant LDA Topic by State (k = 3)</a:t>
            </a:r>
          </a:p>
        </p:txBody>
      </p:sp>
      <p:pic>
        <p:nvPicPr>
          <p:cNvPr id="8" name="Picture 7" descr="draft1_lda_topics_by_state.png"/>
          <p:cNvPicPr>
            <a:picLocks noChangeAspect="1"/>
          </p:cNvPicPr>
          <p:nvPr/>
        </p:nvPicPr>
        <p:blipFill>
          <a:blip r:embed="rId3"/>
          <a:stretch>
            <a:fillRect/>
          </a:stretch>
        </p:blipFill>
        <p:spPr>
          <a:xfrm>
            <a:off x="6126480" y="1719072"/>
            <a:ext cx="5577840" cy="3931920"/>
          </a:xfrm>
          <a:prstGeom prst="rect">
            <a:avLst/>
          </a:prstGeom>
        </p:spPr>
      </p:pic>
      <p:sp>
        <p:nvSpPr>
          <p:cNvPr id="9" name="Rectangle 8"/>
          <p:cNvSpPr/>
          <p:nvPr/>
        </p:nvSpPr>
        <p:spPr>
          <a:xfrm>
            <a:off x="457200" y="5806440"/>
            <a:ext cx="11274552" cy="18288"/>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5925312"/>
            <a:ext cx="11247120" cy="594360"/>
          </a:xfrm>
          <a:prstGeom prst="rect">
            <a:avLst/>
          </a:prstGeom>
          <a:noFill/>
        </p:spPr>
        <p:txBody>
          <a:bodyPr wrap="square">
            <a:spAutoFit/>
          </a:bodyPr>
          <a:lstStyle/>
          <a:p>
            <a:pPr algn="l"/>
            <a:r>
              <a:rPr sz="1100" b="0" i="1">
                <a:solidFill>
                  <a:srgbClr val="555555"/>
                </a:solidFill>
              </a:rPr>
              <a:t>Policy dictionary: voter_id · registration · absentee_mail · administration · emergency. LDA topics (k=3): Topic 1 = Administration/Absentee; Topic 2 = Election/Ballot/Board; Topic 3 = Voter ID/Identification/Card. Minnesota dominates Topic 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C47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64592"/>
            <a:ext cx="11247120" cy="731520"/>
          </a:xfrm>
          <a:prstGeom prst="rect">
            <a:avLst/>
          </a:prstGeom>
          <a:noFill/>
        </p:spPr>
        <p:txBody>
          <a:bodyPr wrap="square">
            <a:spAutoFit/>
          </a:bodyPr>
          <a:lstStyle/>
          <a:p>
            <a:pPr algn="l"/>
            <a:r>
              <a:rPr sz="3400" b="1" i="0">
                <a:solidFill>
                  <a:srgbClr val="1A1A1A"/>
                </a:solidFill>
              </a:rPr>
              <a:t>Limitations</a:t>
            </a:r>
          </a:p>
        </p:txBody>
      </p:sp>
      <p:sp>
        <p:nvSpPr>
          <p:cNvPr id="4" name="TextBox 3"/>
          <p:cNvSpPr txBox="1"/>
          <p:nvPr/>
        </p:nvSpPr>
        <p:spPr>
          <a:xfrm>
            <a:off x="457200" y="868680"/>
            <a:ext cx="11247120" cy="411480"/>
          </a:xfrm>
          <a:prstGeom prst="rect">
            <a:avLst/>
          </a:prstGeom>
          <a:noFill/>
        </p:spPr>
        <p:txBody>
          <a:bodyPr wrap="square">
            <a:spAutoFit/>
          </a:bodyPr>
          <a:lstStyle/>
          <a:p>
            <a:pPr algn="l"/>
            <a:r>
              <a:rPr sz="1800" b="0" i="0">
                <a:solidFill>
                  <a:srgbClr val="555555"/>
                </a:solidFill>
              </a:rPr>
              <a:t>Six constraints on how far these findings can be generalized</a:t>
            </a:r>
          </a:p>
        </p:txBody>
      </p:sp>
      <p:sp>
        <p:nvSpPr>
          <p:cNvPr id="5" name="Rectangle 4"/>
          <p:cNvSpPr/>
          <p:nvPr/>
        </p:nvSpPr>
        <p:spPr>
          <a:xfrm>
            <a:off x="457200" y="1371600"/>
            <a:ext cx="5394960" cy="12344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444752"/>
            <a:ext cx="5120640" cy="347472"/>
          </a:xfrm>
          <a:prstGeom prst="rect">
            <a:avLst/>
          </a:prstGeom>
          <a:noFill/>
        </p:spPr>
        <p:txBody>
          <a:bodyPr wrap="square">
            <a:spAutoFit/>
          </a:bodyPr>
          <a:lstStyle/>
          <a:p>
            <a:pPr algn="l"/>
            <a:r>
              <a:rPr sz="1400" b="1" i="0">
                <a:solidFill>
                  <a:srgbClr val="2C4770"/>
                </a:solidFill>
              </a:rPr>
              <a:t>Small corpus &amp; attrition</a:t>
            </a:r>
          </a:p>
        </p:txBody>
      </p:sp>
      <p:sp>
        <p:nvSpPr>
          <p:cNvPr id="7" name="TextBox 6"/>
          <p:cNvSpPr txBox="1"/>
          <p:nvPr/>
        </p:nvSpPr>
        <p:spPr>
          <a:xfrm>
            <a:off x="594360" y="1810512"/>
            <a:ext cx="5120640" cy="749808"/>
          </a:xfrm>
          <a:prstGeom prst="rect">
            <a:avLst/>
          </a:prstGeom>
          <a:noFill/>
        </p:spPr>
        <p:txBody>
          <a:bodyPr wrap="square">
            <a:spAutoFit/>
          </a:bodyPr>
          <a:lstStyle/>
          <a:p>
            <a:pPr algn="l"/>
            <a:r>
              <a:rPr sz="1200" b="0" i="0">
                <a:solidFill>
                  <a:srgbClr val="1A1A1A"/>
                </a:solidFill>
              </a:rPr>
              <a:t>51 bills is a thin basis for computational text analysis. Losing 32 of 83 PDFs (39%) to extraction failure introduces potential selection bias — bills with readable text may differ systematically from those without.</a:t>
            </a:r>
          </a:p>
        </p:txBody>
      </p:sp>
      <p:sp>
        <p:nvSpPr>
          <p:cNvPr id="8" name="Rectangle 7"/>
          <p:cNvSpPr/>
          <p:nvPr/>
        </p:nvSpPr>
        <p:spPr>
          <a:xfrm>
            <a:off x="6309360" y="1371600"/>
            <a:ext cx="5394960" cy="12344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46520" y="1444752"/>
            <a:ext cx="5120640" cy="347472"/>
          </a:xfrm>
          <a:prstGeom prst="rect">
            <a:avLst/>
          </a:prstGeom>
          <a:noFill/>
        </p:spPr>
        <p:txBody>
          <a:bodyPr wrap="square">
            <a:spAutoFit/>
          </a:bodyPr>
          <a:lstStyle/>
          <a:p>
            <a:pPr algn="l"/>
            <a:r>
              <a:rPr sz="1400" b="1" i="0">
                <a:solidFill>
                  <a:srgbClr val="2C4770"/>
                </a:solidFill>
              </a:rPr>
              <a:t>Minnesota concentration</a:t>
            </a:r>
          </a:p>
        </p:txBody>
      </p:sp>
      <p:sp>
        <p:nvSpPr>
          <p:cNvPr id="10" name="TextBox 9"/>
          <p:cNvSpPr txBox="1"/>
          <p:nvPr/>
        </p:nvSpPr>
        <p:spPr>
          <a:xfrm>
            <a:off x="6446520" y="1810512"/>
            <a:ext cx="5120640" cy="749808"/>
          </a:xfrm>
          <a:prstGeom prst="rect">
            <a:avLst/>
          </a:prstGeom>
          <a:noFill/>
        </p:spPr>
        <p:txBody>
          <a:bodyPr wrap="square">
            <a:spAutoFit/>
          </a:bodyPr>
          <a:lstStyle/>
          <a:p>
            <a:pPr algn="l"/>
            <a:r>
              <a:rPr sz="1200" b="0" i="0">
                <a:solidFill>
                  <a:srgbClr val="1A1A1A"/>
                </a:solidFill>
              </a:rPr>
              <a:t>58% of Democratic-trifecta bills originate in one state. Minnesota's unique election administration structure (county auditors, distinctive statutes) may inflate the distinctiveness of Democratic vocabulary rather than reflecting Democratic ideology broadly.</a:t>
            </a:r>
          </a:p>
        </p:txBody>
      </p:sp>
      <p:sp>
        <p:nvSpPr>
          <p:cNvPr id="11" name="Rectangle 10"/>
          <p:cNvSpPr/>
          <p:nvPr/>
        </p:nvSpPr>
        <p:spPr>
          <a:xfrm>
            <a:off x="457200" y="2743200"/>
            <a:ext cx="5394960" cy="12344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4360" y="2816352"/>
            <a:ext cx="5120640" cy="347472"/>
          </a:xfrm>
          <a:prstGeom prst="rect">
            <a:avLst/>
          </a:prstGeom>
          <a:noFill/>
        </p:spPr>
        <p:txBody>
          <a:bodyPr wrap="square">
            <a:spAutoFit/>
          </a:bodyPr>
          <a:lstStyle/>
          <a:p>
            <a:pPr algn="l"/>
            <a:r>
              <a:rPr sz="1400" b="1" i="0">
                <a:solidFill>
                  <a:srgbClr val="2C4770"/>
                </a:solidFill>
              </a:rPr>
              <a:t>Introduced vs. enacted bills</a:t>
            </a:r>
          </a:p>
        </p:txBody>
      </p:sp>
      <p:sp>
        <p:nvSpPr>
          <p:cNvPr id="13" name="TextBox 12"/>
          <p:cNvSpPr txBox="1"/>
          <p:nvPr/>
        </p:nvSpPr>
        <p:spPr>
          <a:xfrm>
            <a:off x="594360" y="3182112"/>
            <a:ext cx="5120640" cy="749808"/>
          </a:xfrm>
          <a:prstGeom prst="rect">
            <a:avLst/>
          </a:prstGeom>
          <a:noFill/>
        </p:spPr>
        <p:txBody>
          <a:bodyPr wrap="square">
            <a:spAutoFit/>
          </a:bodyPr>
          <a:lstStyle/>
          <a:p>
            <a:pPr algn="l"/>
            <a:r>
              <a:rPr sz="1200" b="0" i="0">
                <a:solidFill>
                  <a:srgbClr val="1A1A1A"/>
                </a:solidFill>
              </a:rPr>
              <a:t>The corpus includes all introduced bills regardless of passage status. Bills that actually became law may differ in direction and content from the full introduced corpus.</a:t>
            </a:r>
          </a:p>
        </p:txBody>
      </p:sp>
      <p:sp>
        <p:nvSpPr>
          <p:cNvPr id="14" name="Rectangle 13"/>
          <p:cNvSpPr/>
          <p:nvPr/>
        </p:nvSpPr>
        <p:spPr>
          <a:xfrm>
            <a:off x="6309360" y="2743200"/>
            <a:ext cx="5394960" cy="12344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46520" y="2816352"/>
            <a:ext cx="5120640" cy="347472"/>
          </a:xfrm>
          <a:prstGeom prst="rect">
            <a:avLst/>
          </a:prstGeom>
          <a:noFill/>
        </p:spPr>
        <p:txBody>
          <a:bodyPr wrap="square">
            <a:spAutoFit/>
          </a:bodyPr>
          <a:lstStyle/>
          <a:p>
            <a:pPr algn="l"/>
            <a:r>
              <a:rPr sz="1400" b="1" i="0">
                <a:solidFill>
                  <a:srgbClr val="2C4770"/>
                </a:solidFill>
              </a:rPr>
              <a:t>AI rubric boundary cases</a:t>
            </a:r>
          </a:p>
        </p:txBody>
      </p:sp>
      <p:sp>
        <p:nvSpPr>
          <p:cNvPr id="16" name="TextBox 15"/>
          <p:cNvSpPr txBox="1"/>
          <p:nvPr/>
        </p:nvSpPr>
        <p:spPr>
          <a:xfrm>
            <a:off x="6446520" y="3182112"/>
            <a:ext cx="5120640" cy="749808"/>
          </a:xfrm>
          <a:prstGeom prst="rect">
            <a:avLst/>
          </a:prstGeom>
          <a:noFill/>
        </p:spPr>
        <p:txBody>
          <a:bodyPr wrap="square">
            <a:spAutoFit/>
          </a:bodyPr>
          <a:lstStyle/>
          <a:p>
            <a:pPr algn="l"/>
            <a:r>
              <a:rPr sz="1200" b="0" i="0">
                <a:solidFill>
                  <a:srgbClr val="1A1A1A"/>
                </a:solidFill>
              </a:rPr>
              <a:t>The classifier labels any bill adding new procedural requirements as Restrictive — regardless of political intent. Administrative modernization bills may be mislabeled. Human validation (κ = 0.831) suggests this is isolated to edge cases.</a:t>
            </a:r>
          </a:p>
        </p:txBody>
      </p:sp>
      <p:sp>
        <p:nvSpPr>
          <p:cNvPr id="17" name="Rectangle 16"/>
          <p:cNvSpPr/>
          <p:nvPr/>
        </p:nvSpPr>
        <p:spPr>
          <a:xfrm>
            <a:off x="457200" y="4114800"/>
            <a:ext cx="5394960" cy="12344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94360" y="4187952"/>
            <a:ext cx="5120640" cy="347472"/>
          </a:xfrm>
          <a:prstGeom prst="rect">
            <a:avLst/>
          </a:prstGeom>
          <a:noFill/>
        </p:spPr>
        <p:txBody>
          <a:bodyPr wrap="square">
            <a:spAutoFit/>
          </a:bodyPr>
          <a:lstStyle/>
          <a:p>
            <a:pPr algn="l"/>
            <a:r>
              <a:rPr sz="1400" b="1" i="0">
                <a:solidFill>
                  <a:srgbClr val="2C4770"/>
                </a:solidFill>
              </a:rPr>
              <a:t>Single-coder validation</a:t>
            </a:r>
          </a:p>
        </p:txBody>
      </p:sp>
      <p:sp>
        <p:nvSpPr>
          <p:cNvPr id="19" name="TextBox 18"/>
          <p:cNvSpPr txBox="1"/>
          <p:nvPr/>
        </p:nvSpPr>
        <p:spPr>
          <a:xfrm>
            <a:off x="594360" y="4553712"/>
            <a:ext cx="5120640" cy="749808"/>
          </a:xfrm>
          <a:prstGeom prst="rect">
            <a:avLst/>
          </a:prstGeom>
          <a:noFill/>
        </p:spPr>
        <p:txBody>
          <a:bodyPr wrap="square">
            <a:spAutoFit/>
          </a:bodyPr>
          <a:lstStyle/>
          <a:p>
            <a:pPr algn="l"/>
            <a:r>
              <a:rPr sz="1200" b="0" i="0">
                <a:solidFill>
                  <a:srgbClr val="1A1A1A"/>
                </a:solidFill>
              </a:rPr>
              <a:t>Only one human coder reviewed the 10-bill validation sample. Without a second coder, Human-vs-Human reliability cannot be assessed and the κ estimate lacks a human ceiling benchmark.</a:t>
            </a:r>
          </a:p>
        </p:txBody>
      </p:sp>
      <p:sp>
        <p:nvSpPr>
          <p:cNvPr id="20" name="Rectangle 19"/>
          <p:cNvSpPr/>
          <p:nvPr/>
        </p:nvSpPr>
        <p:spPr>
          <a:xfrm>
            <a:off x="6309360" y="4114800"/>
            <a:ext cx="5394960" cy="12344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46520" y="4187952"/>
            <a:ext cx="5120640" cy="347472"/>
          </a:xfrm>
          <a:prstGeom prst="rect">
            <a:avLst/>
          </a:prstGeom>
          <a:noFill/>
        </p:spPr>
        <p:txBody>
          <a:bodyPr wrap="square">
            <a:spAutoFit/>
          </a:bodyPr>
          <a:lstStyle/>
          <a:p>
            <a:pPr algn="l"/>
            <a:r>
              <a:rPr sz="1400" b="1" i="0">
                <a:solidFill>
                  <a:srgbClr val="2C4770"/>
                </a:solidFill>
              </a:rPr>
              <a:t>Divided-government heterogeneity</a:t>
            </a:r>
          </a:p>
        </p:txBody>
      </p:sp>
      <p:sp>
        <p:nvSpPr>
          <p:cNvPr id="22" name="TextBox 21"/>
          <p:cNvSpPr txBox="1"/>
          <p:nvPr/>
        </p:nvSpPr>
        <p:spPr>
          <a:xfrm>
            <a:off x="6446520" y="4553712"/>
            <a:ext cx="5120640" cy="749808"/>
          </a:xfrm>
          <a:prstGeom prst="rect">
            <a:avLst/>
          </a:prstGeom>
          <a:noFill/>
        </p:spPr>
        <p:txBody>
          <a:bodyPr wrap="square">
            <a:spAutoFit/>
          </a:bodyPr>
          <a:lstStyle/>
          <a:p>
            <a:pPr algn="l"/>
            <a:r>
              <a:rPr sz="1200" b="0" i="0">
                <a:solidFill>
                  <a:srgbClr val="1A1A1A"/>
                </a:solidFill>
              </a:rPr>
              <a:t>14 divided-government bills come from 6 states with different configurations of divided control. Treating all divided arrangements as equivalent may mask within-group variation.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C47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64592"/>
            <a:ext cx="11247120" cy="731520"/>
          </a:xfrm>
          <a:prstGeom prst="rect">
            <a:avLst/>
          </a:prstGeom>
          <a:noFill/>
        </p:spPr>
        <p:txBody>
          <a:bodyPr wrap="square">
            <a:spAutoFit/>
          </a:bodyPr>
          <a:lstStyle/>
          <a:p>
            <a:pPr algn="l"/>
            <a:r>
              <a:rPr sz="3400" b="1" i="0">
                <a:solidFill>
                  <a:srgbClr val="1A1A1A"/>
                </a:solidFill>
              </a:rPr>
              <a:t>Conclusion: What Did We Find?</a:t>
            </a:r>
          </a:p>
        </p:txBody>
      </p:sp>
      <p:sp>
        <p:nvSpPr>
          <p:cNvPr id="4" name="TextBox 3"/>
          <p:cNvSpPr txBox="1"/>
          <p:nvPr/>
        </p:nvSpPr>
        <p:spPr>
          <a:xfrm>
            <a:off x="457200" y="868680"/>
            <a:ext cx="11247120" cy="411480"/>
          </a:xfrm>
          <a:prstGeom prst="rect">
            <a:avLst/>
          </a:prstGeom>
          <a:noFill/>
        </p:spPr>
        <p:txBody>
          <a:bodyPr wrap="square">
            <a:spAutoFit/>
          </a:bodyPr>
          <a:lstStyle/>
          <a:p>
            <a:pPr algn="l"/>
            <a:r>
              <a:rPr sz="1800" b="0" i="0">
                <a:solidFill>
                  <a:srgbClr val="555555"/>
                </a:solidFill>
              </a:rPr>
              <a:t>Both hypotheses receive support — with important nuance for H2</a:t>
            </a:r>
          </a:p>
        </p:txBody>
      </p:sp>
      <p:sp>
        <p:nvSpPr>
          <p:cNvPr id="5" name="Rectangle 4"/>
          <p:cNvSpPr/>
          <p:nvPr/>
        </p:nvSpPr>
        <p:spPr>
          <a:xfrm>
            <a:off x="457200" y="1371600"/>
            <a:ext cx="11247120" cy="13716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371600"/>
            <a:ext cx="109728" cy="1371600"/>
          </a:xfrm>
          <a:prstGeom prst="rect">
            <a:avLst/>
          </a:prstGeom>
          <a:solidFill>
            <a:srgbClr val="2C47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444752"/>
            <a:ext cx="7315200" cy="384048"/>
          </a:xfrm>
          <a:prstGeom prst="rect">
            <a:avLst/>
          </a:prstGeom>
          <a:noFill/>
        </p:spPr>
        <p:txBody>
          <a:bodyPr wrap="square">
            <a:spAutoFit/>
          </a:bodyPr>
          <a:lstStyle/>
          <a:p>
            <a:pPr algn="l"/>
            <a:r>
              <a:rPr sz="1500" b="1" i="0">
                <a:solidFill>
                  <a:srgbClr val="2C4770"/>
                </a:solidFill>
              </a:rPr>
              <a:t>H1  —  Supported</a:t>
            </a:r>
          </a:p>
        </p:txBody>
      </p:sp>
      <p:sp>
        <p:nvSpPr>
          <p:cNvPr id="8" name="TextBox 7"/>
          <p:cNvSpPr txBox="1"/>
          <p:nvPr/>
        </p:nvSpPr>
        <p:spPr>
          <a:xfrm>
            <a:off x="685800" y="1828800"/>
            <a:ext cx="10835640" cy="804672"/>
          </a:xfrm>
          <a:prstGeom prst="rect">
            <a:avLst/>
          </a:prstGeom>
          <a:noFill/>
        </p:spPr>
        <p:txBody>
          <a:bodyPr wrap="square">
            <a:spAutoFit/>
          </a:bodyPr>
          <a:lstStyle/>
          <a:p>
            <a:pPr algn="l"/>
            <a:r>
              <a:rPr sz="1400" b="0" i="0">
                <a:solidFill>
                  <a:srgbClr val="1A1A1A"/>
                </a:solidFill>
              </a:rPr>
              <a:t>Bill language differs systematically along ideological lines. Republican bills concentrate on elector certification, redistricting, and petition language. Democratic bills are shaped by voter ID, registration, and Minnesota's auditor-based election system. Divided-government bills use generic procedural vocabulary with near-zero distinctive scores.</a:t>
            </a:r>
          </a:p>
        </p:txBody>
      </p:sp>
      <p:sp>
        <p:nvSpPr>
          <p:cNvPr id="9" name="Rectangle 8"/>
          <p:cNvSpPr/>
          <p:nvPr/>
        </p:nvSpPr>
        <p:spPr>
          <a:xfrm>
            <a:off x="457200" y="2926080"/>
            <a:ext cx="11247120" cy="13716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0" y="2926080"/>
            <a:ext cx="109728" cy="1371600"/>
          </a:xfrm>
          <a:prstGeom prst="rect">
            <a:avLst/>
          </a:prstGeom>
          <a:solidFill>
            <a:srgbClr val="B02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2999232"/>
            <a:ext cx="8229600" cy="384048"/>
          </a:xfrm>
          <a:prstGeom prst="rect">
            <a:avLst/>
          </a:prstGeom>
          <a:noFill/>
        </p:spPr>
        <p:txBody>
          <a:bodyPr wrap="square">
            <a:spAutoFit/>
          </a:bodyPr>
          <a:lstStyle/>
          <a:p>
            <a:pPr algn="l"/>
            <a:r>
              <a:rPr sz="1500" b="1" i="0">
                <a:solidFill>
                  <a:srgbClr val="B0281A"/>
                </a:solidFill>
              </a:rPr>
              <a:t>H2  —  Supported (with nuance)</a:t>
            </a:r>
          </a:p>
        </p:txBody>
      </p:sp>
      <p:sp>
        <p:nvSpPr>
          <p:cNvPr id="12" name="TextBox 11"/>
          <p:cNvSpPr txBox="1"/>
          <p:nvPr/>
        </p:nvSpPr>
        <p:spPr>
          <a:xfrm>
            <a:off x="685800" y="3383280"/>
            <a:ext cx="10835640" cy="822960"/>
          </a:xfrm>
          <a:prstGeom prst="rect">
            <a:avLst/>
          </a:prstGeom>
          <a:noFill/>
        </p:spPr>
        <p:txBody>
          <a:bodyPr wrap="square">
            <a:spAutoFit/>
          </a:bodyPr>
          <a:lstStyle/>
          <a:p>
            <a:pPr algn="l"/>
            <a:r>
              <a:rPr sz="1400" b="0" i="0">
                <a:solidFill>
                  <a:srgbClr val="1A1A1A"/>
                </a:solidFill>
              </a:rPr>
              <a:t>Republican-controlled states produced exclusively Restrictive bills (100%). Divided-government states produced overwhelmingly Neutral bills (86%). Democratic states show 58% Restrictive — but most of this reflects procedural absentee reforms in Minnesota, not intentional access barriers. The directional gradient is clear: Republican &gt; Democratic &gt; Divided in restrictiveness.</a:t>
            </a:r>
          </a:p>
        </p:txBody>
      </p:sp>
      <p:sp>
        <p:nvSpPr>
          <p:cNvPr id="13" name="Rectangle 12"/>
          <p:cNvSpPr/>
          <p:nvPr/>
        </p:nvSpPr>
        <p:spPr>
          <a:xfrm>
            <a:off x="457200" y="4480560"/>
            <a:ext cx="11274552" cy="18288"/>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200" y="4617720"/>
            <a:ext cx="11247120" cy="365760"/>
          </a:xfrm>
          <a:prstGeom prst="rect">
            <a:avLst/>
          </a:prstGeom>
          <a:noFill/>
        </p:spPr>
        <p:txBody>
          <a:bodyPr wrap="square">
            <a:spAutoFit/>
          </a:bodyPr>
          <a:lstStyle/>
          <a:p>
            <a:pPr algn="l"/>
            <a:r>
              <a:rPr sz="1500" b="1" i="0">
                <a:solidFill>
                  <a:srgbClr val="2C4770"/>
                </a:solidFill>
              </a:rPr>
              <a:t>Broader takeaway</a:t>
            </a:r>
          </a:p>
        </p:txBody>
      </p:sp>
      <p:sp>
        <p:nvSpPr>
          <p:cNvPr id="15" name="TextBox 14"/>
          <p:cNvSpPr txBox="1"/>
          <p:nvPr/>
        </p:nvSpPr>
        <p:spPr>
          <a:xfrm>
            <a:off x="457200" y="5010912"/>
            <a:ext cx="11247120" cy="914400"/>
          </a:xfrm>
          <a:prstGeom prst="rect">
            <a:avLst/>
          </a:prstGeom>
          <a:noFill/>
        </p:spPr>
        <p:txBody>
          <a:bodyPr wrap="square">
            <a:spAutoFit/>
          </a:bodyPr>
          <a:lstStyle/>
          <a:p>
            <a:pPr algn="l"/>
            <a:r>
              <a:rPr sz="1400" b="0" i="0">
                <a:solidFill>
                  <a:srgbClr val="1A1A1A"/>
                </a:solidFill>
              </a:rPr>
              <a:t>Political control shapes not only the probability of restrictive voting legislation, but the substantive policy terrain it occupies — the topics bills address, the vocabulary they use, and the direction they push. Computational text analysis can detect these patterns systematically across states and sessions where manual review would be impractical.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C47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64592"/>
            <a:ext cx="11247120" cy="731520"/>
          </a:xfrm>
          <a:prstGeom prst="rect">
            <a:avLst/>
          </a:prstGeom>
          <a:noFill/>
        </p:spPr>
        <p:txBody>
          <a:bodyPr wrap="square">
            <a:spAutoFit/>
          </a:bodyPr>
          <a:lstStyle/>
          <a:p>
            <a:pPr algn="l"/>
            <a:r>
              <a:rPr sz="3400" b="1" i="0">
                <a:solidFill>
                  <a:srgbClr val="1A1A1A"/>
                </a:solidFill>
              </a:rPr>
              <a:t>AI Collaboration Log</a:t>
            </a:r>
          </a:p>
        </p:txBody>
      </p:sp>
      <p:sp>
        <p:nvSpPr>
          <p:cNvPr id="4" name="TextBox 3"/>
          <p:cNvSpPr txBox="1"/>
          <p:nvPr/>
        </p:nvSpPr>
        <p:spPr>
          <a:xfrm>
            <a:off x="457200" y="868680"/>
            <a:ext cx="11247120" cy="411480"/>
          </a:xfrm>
          <a:prstGeom prst="rect">
            <a:avLst/>
          </a:prstGeom>
          <a:noFill/>
        </p:spPr>
        <p:txBody>
          <a:bodyPr wrap="square">
            <a:spAutoFit/>
          </a:bodyPr>
          <a:lstStyle/>
          <a:p>
            <a:pPr algn="l"/>
            <a:r>
              <a:rPr sz="1800" b="0" i="0">
                <a:solidFill>
                  <a:srgbClr val="555555"/>
                </a:solidFill>
              </a:rPr>
              <a:t>Full documentation of AI tool usage throughout the project — EPPS 6323 requirement</a:t>
            </a:r>
          </a:p>
        </p:txBody>
      </p:sp>
      <p:sp>
        <p:nvSpPr>
          <p:cNvPr id="5" name="TextBox 4"/>
          <p:cNvSpPr txBox="1"/>
          <p:nvPr/>
        </p:nvSpPr>
        <p:spPr>
          <a:xfrm>
            <a:off x="457200" y="1325880"/>
            <a:ext cx="5394960" cy="365760"/>
          </a:xfrm>
          <a:prstGeom prst="rect">
            <a:avLst/>
          </a:prstGeom>
          <a:noFill/>
        </p:spPr>
        <p:txBody>
          <a:bodyPr wrap="square">
            <a:spAutoFit/>
          </a:bodyPr>
          <a:lstStyle/>
          <a:p>
            <a:pPr algn="l"/>
            <a:r>
              <a:rPr sz="1500" b="1" i="0">
                <a:solidFill>
                  <a:srgbClr val="2C4770"/>
                </a:solidFill>
              </a:rPr>
              <a:t>Tools Used</a:t>
            </a:r>
          </a:p>
        </p:txBody>
      </p:sp>
      <p:sp>
        <p:nvSpPr>
          <p:cNvPr id="6" name="Rectangle 5"/>
          <p:cNvSpPr/>
          <p:nvPr/>
        </p:nvSpPr>
        <p:spPr>
          <a:xfrm>
            <a:off x="457200" y="1783080"/>
            <a:ext cx="5394960" cy="8686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837943"/>
            <a:ext cx="5120640" cy="320040"/>
          </a:xfrm>
          <a:prstGeom prst="rect">
            <a:avLst/>
          </a:prstGeom>
          <a:noFill/>
        </p:spPr>
        <p:txBody>
          <a:bodyPr wrap="square">
            <a:spAutoFit/>
          </a:bodyPr>
          <a:lstStyle/>
          <a:p>
            <a:pPr algn="l"/>
            <a:r>
              <a:rPr sz="1400" b="1" i="0">
                <a:solidFill>
                  <a:srgbClr val="1A1A1A"/>
                </a:solidFill>
              </a:rPr>
              <a:t>Claude Sonnet 4.6</a:t>
            </a:r>
          </a:p>
        </p:txBody>
      </p:sp>
      <p:sp>
        <p:nvSpPr>
          <p:cNvPr id="8" name="TextBox 7"/>
          <p:cNvSpPr txBox="1"/>
          <p:nvPr/>
        </p:nvSpPr>
        <p:spPr>
          <a:xfrm>
            <a:off x="594360" y="2130552"/>
            <a:ext cx="1828800" cy="256032"/>
          </a:xfrm>
          <a:prstGeom prst="rect">
            <a:avLst/>
          </a:prstGeom>
          <a:noFill/>
        </p:spPr>
        <p:txBody>
          <a:bodyPr wrap="square">
            <a:spAutoFit/>
          </a:bodyPr>
          <a:lstStyle/>
          <a:p>
            <a:pPr algn="l"/>
            <a:r>
              <a:rPr sz="1100" b="0" i="1">
                <a:solidFill>
                  <a:srgbClr val="2C4770"/>
                </a:solidFill>
              </a:rPr>
              <a:t>claude-sonnet-4-6</a:t>
            </a:r>
          </a:p>
        </p:txBody>
      </p:sp>
      <p:sp>
        <p:nvSpPr>
          <p:cNvPr id="9" name="TextBox 8"/>
          <p:cNvSpPr txBox="1"/>
          <p:nvPr/>
        </p:nvSpPr>
        <p:spPr>
          <a:xfrm>
            <a:off x="2377440" y="2112264"/>
            <a:ext cx="3383280" cy="438912"/>
          </a:xfrm>
          <a:prstGeom prst="rect">
            <a:avLst/>
          </a:prstGeom>
          <a:noFill/>
        </p:spPr>
        <p:txBody>
          <a:bodyPr wrap="square">
            <a:spAutoFit/>
          </a:bodyPr>
          <a:lstStyle/>
          <a:p>
            <a:pPr algn="l"/>
            <a:r>
              <a:rPr sz="1100" b="0" i="0">
                <a:solidFill>
                  <a:srgbClr val="555555"/>
                </a:solidFill>
              </a:rPr>
              <a:t>Pipeline design, R scripting, data collection, preprocessing, visualization, PowerPoint generation</a:t>
            </a:r>
          </a:p>
        </p:txBody>
      </p:sp>
      <p:sp>
        <p:nvSpPr>
          <p:cNvPr id="10" name="Rectangle 9"/>
          <p:cNvSpPr/>
          <p:nvPr/>
        </p:nvSpPr>
        <p:spPr>
          <a:xfrm>
            <a:off x="457200" y="2788920"/>
            <a:ext cx="5394960" cy="8686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4360" y="2843784"/>
            <a:ext cx="5120640" cy="320040"/>
          </a:xfrm>
          <a:prstGeom prst="rect">
            <a:avLst/>
          </a:prstGeom>
          <a:noFill/>
        </p:spPr>
        <p:txBody>
          <a:bodyPr wrap="square">
            <a:spAutoFit/>
          </a:bodyPr>
          <a:lstStyle/>
          <a:p>
            <a:pPr algn="l"/>
            <a:r>
              <a:rPr sz="1400" b="1" i="0">
                <a:solidFill>
                  <a:srgbClr val="1A1A1A"/>
                </a:solidFill>
              </a:rPr>
              <a:t>Claude Opus 4.6</a:t>
            </a:r>
          </a:p>
        </p:txBody>
      </p:sp>
      <p:sp>
        <p:nvSpPr>
          <p:cNvPr id="12" name="TextBox 11"/>
          <p:cNvSpPr txBox="1"/>
          <p:nvPr/>
        </p:nvSpPr>
        <p:spPr>
          <a:xfrm>
            <a:off x="594360" y="3136391"/>
            <a:ext cx="1828800" cy="256032"/>
          </a:xfrm>
          <a:prstGeom prst="rect">
            <a:avLst/>
          </a:prstGeom>
          <a:noFill/>
        </p:spPr>
        <p:txBody>
          <a:bodyPr wrap="square">
            <a:spAutoFit/>
          </a:bodyPr>
          <a:lstStyle/>
          <a:p>
            <a:pPr algn="l"/>
            <a:r>
              <a:rPr sz="1100" b="0" i="1">
                <a:solidFill>
                  <a:srgbClr val="2C4770"/>
                </a:solidFill>
              </a:rPr>
              <a:t>claude-opus-4-6</a:t>
            </a:r>
          </a:p>
        </p:txBody>
      </p:sp>
      <p:sp>
        <p:nvSpPr>
          <p:cNvPr id="13" name="TextBox 12"/>
          <p:cNvSpPr txBox="1"/>
          <p:nvPr/>
        </p:nvSpPr>
        <p:spPr>
          <a:xfrm>
            <a:off x="2377440" y="3118103"/>
            <a:ext cx="3383280" cy="438912"/>
          </a:xfrm>
          <a:prstGeom prst="rect">
            <a:avLst/>
          </a:prstGeom>
          <a:noFill/>
        </p:spPr>
        <p:txBody>
          <a:bodyPr wrap="square">
            <a:spAutoFit/>
          </a:bodyPr>
          <a:lstStyle/>
          <a:p>
            <a:pPr algn="l"/>
            <a:r>
              <a:rPr sz="1100" b="0" i="0">
                <a:solidFill>
                  <a:srgbClr val="555555"/>
                </a:solidFill>
              </a:rPr>
              <a:t>Bill classification via Anthropic API — 51 bills classified as Restrictive / Expansive / Neutral</a:t>
            </a:r>
          </a:p>
        </p:txBody>
      </p:sp>
      <p:sp>
        <p:nvSpPr>
          <p:cNvPr id="14" name="TextBox 13"/>
          <p:cNvSpPr txBox="1"/>
          <p:nvPr/>
        </p:nvSpPr>
        <p:spPr>
          <a:xfrm>
            <a:off x="6217920" y="1325880"/>
            <a:ext cx="5486400" cy="365760"/>
          </a:xfrm>
          <a:prstGeom prst="rect">
            <a:avLst/>
          </a:prstGeom>
          <a:noFill/>
        </p:spPr>
        <p:txBody>
          <a:bodyPr wrap="square">
            <a:spAutoFit/>
          </a:bodyPr>
          <a:lstStyle/>
          <a:p>
            <a:pPr algn="l"/>
            <a:r>
              <a:rPr sz="1500" b="1" i="0">
                <a:solidFill>
                  <a:srgbClr val="2C4770"/>
                </a:solidFill>
              </a:rPr>
              <a:t>Collaboration Log Summary  (7 entries)</a:t>
            </a:r>
          </a:p>
        </p:txBody>
      </p:sp>
      <p:sp>
        <p:nvSpPr>
          <p:cNvPr id="15" name="Rectangle 14"/>
          <p:cNvSpPr/>
          <p:nvPr/>
        </p:nvSpPr>
        <p:spPr>
          <a:xfrm>
            <a:off x="6217920" y="1783080"/>
            <a:ext cx="5486400" cy="38404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09360" y="1847088"/>
            <a:ext cx="365760" cy="274320"/>
          </a:xfrm>
          <a:prstGeom prst="rect">
            <a:avLst/>
          </a:prstGeom>
          <a:noFill/>
        </p:spPr>
        <p:txBody>
          <a:bodyPr wrap="square">
            <a:spAutoFit/>
          </a:bodyPr>
          <a:lstStyle/>
          <a:p>
            <a:pPr algn="l"/>
            <a:r>
              <a:rPr sz="1300" b="1" i="0">
                <a:solidFill>
                  <a:srgbClr val="2C4770"/>
                </a:solidFill>
              </a:rPr>
              <a:t>1</a:t>
            </a:r>
          </a:p>
        </p:txBody>
      </p:sp>
      <p:sp>
        <p:nvSpPr>
          <p:cNvPr id="17" name="TextBox 16"/>
          <p:cNvSpPr txBox="1"/>
          <p:nvPr/>
        </p:nvSpPr>
        <p:spPr>
          <a:xfrm>
            <a:off x="6720840" y="1847088"/>
            <a:ext cx="4846320" cy="274320"/>
          </a:xfrm>
          <a:prstGeom prst="rect">
            <a:avLst/>
          </a:prstGeom>
          <a:noFill/>
        </p:spPr>
        <p:txBody>
          <a:bodyPr wrap="square">
            <a:spAutoFit/>
          </a:bodyPr>
          <a:lstStyle/>
          <a:p>
            <a:pPr algn="l"/>
            <a:r>
              <a:rPr sz="1300" b="0" i="0">
                <a:solidFill>
                  <a:srgbClr val="1A1A1A"/>
                </a:solidFill>
              </a:rPr>
              <a:t>Pipeline design &amp; R setup</a:t>
            </a:r>
          </a:p>
        </p:txBody>
      </p:sp>
      <p:sp>
        <p:nvSpPr>
          <p:cNvPr id="18" name="Rectangle 17"/>
          <p:cNvSpPr/>
          <p:nvPr/>
        </p:nvSpPr>
        <p:spPr>
          <a:xfrm>
            <a:off x="6217920" y="2221991"/>
            <a:ext cx="548640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09360" y="2285999"/>
            <a:ext cx="365760" cy="274320"/>
          </a:xfrm>
          <a:prstGeom prst="rect">
            <a:avLst/>
          </a:prstGeom>
          <a:noFill/>
        </p:spPr>
        <p:txBody>
          <a:bodyPr wrap="square">
            <a:spAutoFit/>
          </a:bodyPr>
          <a:lstStyle/>
          <a:p>
            <a:pPr algn="l"/>
            <a:r>
              <a:rPr sz="1300" b="1" i="0">
                <a:solidFill>
                  <a:srgbClr val="2C4770"/>
                </a:solidFill>
              </a:rPr>
              <a:t>2</a:t>
            </a:r>
          </a:p>
        </p:txBody>
      </p:sp>
      <p:sp>
        <p:nvSpPr>
          <p:cNvPr id="20" name="TextBox 19"/>
          <p:cNvSpPr txBox="1"/>
          <p:nvPr/>
        </p:nvSpPr>
        <p:spPr>
          <a:xfrm>
            <a:off x="6720840" y="2285999"/>
            <a:ext cx="4846320" cy="274320"/>
          </a:xfrm>
          <a:prstGeom prst="rect">
            <a:avLst/>
          </a:prstGeom>
          <a:noFill/>
        </p:spPr>
        <p:txBody>
          <a:bodyPr wrap="square">
            <a:spAutoFit/>
          </a:bodyPr>
          <a:lstStyle/>
          <a:p>
            <a:pPr algn="l"/>
            <a:r>
              <a:rPr sz="1300" b="0" i="0">
                <a:solidFill>
                  <a:srgbClr val="1A1A1A"/>
                </a:solidFill>
              </a:rPr>
              <a:t>Trifecta lookup table</a:t>
            </a:r>
          </a:p>
        </p:txBody>
      </p:sp>
      <p:sp>
        <p:nvSpPr>
          <p:cNvPr id="21" name="Rectangle 20"/>
          <p:cNvSpPr/>
          <p:nvPr/>
        </p:nvSpPr>
        <p:spPr>
          <a:xfrm>
            <a:off x="6217920" y="2660904"/>
            <a:ext cx="5486400" cy="38404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09360" y="2724912"/>
            <a:ext cx="365760" cy="274320"/>
          </a:xfrm>
          <a:prstGeom prst="rect">
            <a:avLst/>
          </a:prstGeom>
          <a:noFill/>
        </p:spPr>
        <p:txBody>
          <a:bodyPr wrap="square">
            <a:spAutoFit/>
          </a:bodyPr>
          <a:lstStyle/>
          <a:p>
            <a:pPr algn="l"/>
            <a:r>
              <a:rPr sz="1300" b="1" i="0">
                <a:solidFill>
                  <a:srgbClr val="2C4770"/>
                </a:solidFill>
              </a:rPr>
              <a:t>3</a:t>
            </a:r>
          </a:p>
        </p:txBody>
      </p:sp>
      <p:sp>
        <p:nvSpPr>
          <p:cNvPr id="23" name="TextBox 22"/>
          <p:cNvSpPr txBox="1"/>
          <p:nvPr/>
        </p:nvSpPr>
        <p:spPr>
          <a:xfrm>
            <a:off x="6720840" y="2724912"/>
            <a:ext cx="4846320" cy="274320"/>
          </a:xfrm>
          <a:prstGeom prst="rect">
            <a:avLst/>
          </a:prstGeom>
          <a:noFill/>
        </p:spPr>
        <p:txBody>
          <a:bodyPr wrap="square">
            <a:spAutoFit/>
          </a:bodyPr>
          <a:lstStyle/>
          <a:p>
            <a:pPr algn="l"/>
            <a:r>
              <a:rPr sz="1300" b="0" i="0">
                <a:solidFill>
                  <a:srgbClr val="1A1A1A"/>
                </a:solidFill>
              </a:rPr>
              <a:t>PDF extraction &amp; DFM</a:t>
            </a:r>
          </a:p>
        </p:txBody>
      </p:sp>
      <p:sp>
        <p:nvSpPr>
          <p:cNvPr id="24" name="Rectangle 23"/>
          <p:cNvSpPr/>
          <p:nvPr/>
        </p:nvSpPr>
        <p:spPr>
          <a:xfrm>
            <a:off x="6217920" y="3099815"/>
            <a:ext cx="548640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309360" y="3163823"/>
            <a:ext cx="365760" cy="274320"/>
          </a:xfrm>
          <a:prstGeom prst="rect">
            <a:avLst/>
          </a:prstGeom>
          <a:noFill/>
        </p:spPr>
        <p:txBody>
          <a:bodyPr wrap="square">
            <a:spAutoFit/>
          </a:bodyPr>
          <a:lstStyle/>
          <a:p>
            <a:pPr algn="l"/>
            <a:r>
              <a:rPr sz="1300" b="1" i="0">
                <a:solidFill>
                  <a:srgbClr val="2C4770"/>
                </a:solidFill>
              </a:rPr>
              <a:t>4</a:t>
            </a:r>
          </a:p>
        </p:txBody>
      </p:sp>
      <p:sp>
        <p:nvSpPr>
          <p:cNvPr id="26" name="TextBox 25"/>
          <p:cNvSpPr txBox="1"/>
          <p:nvPr/>
        </p:nvSpPr>
        <p:spPr>
          <a:xfrm>
            <a:off x="6720840" y="3163823"/>
            <a:ext cx="4846320" cy="274320"/>
          </a:xfrm>
          <a:prstGeom prst="rect">
            <a:avLst/>
          </a:prstGeom>
          <a:noFill/>
        </p:spPr>
        <p:txBody>
          <a:bodyPr wrap="square">
            <a:spAutoFit/>
          </a:bodyPr>
          <a:lstStyle/>
          <a:p>
            <a:pPr algn="l"/>
            <a:r>
              <a:rPr sz="1300" b="0" i="0">
                <a:solidFill>
                  <a:srgbClr val="1A1A1A"/>
                </a:solidFill>
              </a:rPr>
              <a:t>TF-IDF / keyness analysis</a:t>
            </a:r>
          </a:p>
        </p:txBody>
      </p:sp>
      <p:sp>
        <p:nvSpPr>
          <p:cNvPr id="27" name="Rectangle 26"/>
          <p:cNvSpPr/>
          <p:nvPr/>
        </p:nvSpPr>
        <p:spPr>
          <a:xfrm>
            <a:off x="6217920" y="3538728"/>
            <a:ext cx="5486400" cy="38404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309360" y="3602736"/>
            <a:ext cx="365760" cy="274320"/>
          </a:xfrm>
          <a:prstGeom prst="rect">
            <a:avLst/>
          </a:prstGeom>
          <a:noFill/>
        </p:spPr>
        <p:txBody>
          <a:bodyPr wrap="square">
            <a:spAutoFit/>
          </a:bodyPr>
          <a:lstStyle/>
          <a:p>
            <a:pPr algn="l"/>
            <a:r>
              <a:rPr sz="1300" b="1" i="0">
                <a:solidFill>
                  <a:srgbClr val="2C4770"/>
                </a:solidFill>
              </a:rPr>
              <a:t>5</a:t>
            </a:r>
          </a:p>
        </p:txBody>
      </p:sp>
      <p:sp>
        <p:nvSpPr>
          <p:cNvPr id="29" name="TextBox 28"/>
          <p:cNvSpPr txBox="1"/>
          <p:nvPr/>
        </p:nvSpPr>
        <p:spPr>
          <a:xfrm>
            <a:off x="6720840" y="3602736"/>
            <a:ext cx="4846320" cy="274320"/>
          </a:xfrm>
          <a:prstGeom prst="rect">
            <a:avLst/>
          </a:prstGeom>
          <a:noFill/>
        </p:spPr>
        <p:txBody>
          <a:bodyPr wrap="square">
            <a:spAutoFit/>
          </a:bodyPr>
          <a:lstStyle/>
          <a:p>
            <a:pPr algn="l"/>
            <a:r>
              <a:rPr sz="1300" b="0" i="0">
                <a:solidFill>
                  <a:srgbClr val="1A1A1A"/>
                </a:solidFill>
              </a:rPr>
              <a:t>LDA topic modeling (K=4)</a:t>
            </a:r>
          </a:p>
        </p:txBody>
      </p:sp>
      <p:sp>
        <p:nvSpPr>
          <p:cNvPr id="30" name="Rectangle 29"/>
          <p:cNvSpPr/>
          <p:nvPr/>
        </p:nvSpPr>
        <p:spPr>
          <a:xfrm>
            <a:off x="6217920" y="3977639"/>
            <a:ext cx="548640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309360" y="4041648"/>
            <a:ext cx="365760" cy="274320"/>
          </a:xfrm>
          <a:prstGeom prst="rect">
            <a:avLst/>
          </a:prstGeom>
          <a:noFill/>
        </p:spPr>
        <p:txBody>
          <a:bodyPr wrap="square">
            <a:spAutoFit/>
          </a:bodyPr>
          <a:lstStyle/>
          <a:p>
            <a:pPr algn="l"/>
            <a:r>
              <a:rPr sz="1300" b="1" i="0">
                <a:solidFill>
                  <a:srgbClr val="2C4770"/>
                </a:solidFill>
              </a:rPr>
              <a:t>6</a:t>
            </a:r>
          </a:p>
        </p:txBody>
      </p:sp>
      <p:sp>
        <p:nvSpPr>
          <p:cNvPr id="32" name="TextBox 31"/>
          <p:cNvSpPr txBox="1"/>
          <p:nvPr/>
        </p:nvSpPr>
        <p:spPr>
          <a:xfrm>
            <a:off x="6720840" y="4041648"/>
            <a:ext cx="4846320" cy="274320"/>
          </a:xfrm>
          <a:prstGeom prst="rect">
            <a:avLst/>
          </a:prstGeom>
          <a:noFill/>
        </p:spPr>
        <p:txBody>
          <a:bodyPr wrap="square">
            <a:spAutoFit/>
          </a:bodyPr>
          <a:lstStyle/>
          <a:p>
            <a:pPr algn="l"/>
            <a:r>
              <a:rPr sz="1300" b="0" i="0">
                <a:solidFill>
                  <a:srgbClr val="1A1A1A"/>
                </a:solidFill>
              </a:rPr>
              <a:t>AI bill classification (51 bills)</a:t>
            </a:r>
          </a:p>
        </p:txBody>
      </p:sp>
      <p:sp>
        <p:nvSpPr>
          <p:cNvPr id="33" name="Rectangle 32"/>
          <p:cNvSpPr/>
          <p:nvPr/>
        </p:nvSpPr>
        <p:spPr>
          <a:xfrm>
            <a:off x="6217920" y="4416552"/>
            <a:ext cx="5486400" cy="38404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309360" y="4480560"/>
            <a:ext cx="365760" cy="274320"/>
          </a:xfrm>
          <a:prstGeom prst="rect">
            <a:avLst/>
          </a:prstGeom>
          <a:noFill/>
        </p:spPr>
        <p:txBody>
          <a:bodyPr wrap="square">
            <a:spAutoFit/>
          </a:bodyPr>
          <a:lstStyle/>
          <a:p>
            <a:pPr algn="l"/>
            <a:r>
              <a:rPr sz="1300" b="1" i="0">
                <a:solidFill>
                  <a:srgbClr val="2C4770"/>
                </a:solidFill>
              </a:rPr>
              <a:t>7</a:t>
            </a:r>
          </a:p>
        </p:txBody>
      </p:sp>
      <p:sp>
        <p:nvSpPr>
          <p:cNvPr id="35" name="TextBox 34"/>
          <p:cNvSpPr txBox="1"/>
          <p:nvPr/>
        </p:nvSpPr>
        <p:spPr>
          <a:xfrm>
            <a:off x="6720840" y="4480560"/>
            <a:ext cx="4846320" cy="274320"/>
          </a:xfrm>
          <a:prstGeom prst="rect">
            <a:avLst/>
          </a:prstGeom>
          <a:noFill/>
        </p:spPr>
        <p:txBody>
          <a:bodyPr wrap="square">
            <a:spAutoFit/>
          </a:bodyPr>
          <a:lstStyle/>
          <a:p>
            <a:pPr algn="l"/>
            <a:r>
              <a:rPr sz="1300" b="0" i="0">
                <a:solidFill>
                  <a:srgbClr val="1A1A1A"/>
                </a:solidFill>
              </a:rPr>
              <a:t>Human validation &amp; kappa</a:t>
            </a:r>
          </a:p>
        </p:txBody>
      </p:sp>
      <p:sp>
        <p:nvSpPr>
          <p:cNvPr id="36" name="Rectangle 35"/>
          <p:cNvSpPr/>
          <p:nvPr/>
        </p:nvSpPr>
        <p:spPr>
          <a:xfrm>
            <a:off x="457200" y="4983480"/>
            <a:ext cx="11274552" cy="18288"/>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57200" y="5102352"/>
            <a:ext cx="11247120" cy="594360"/>
          </a:xfrm>
          <a:prstGeom prst="rect">
            <a:avLst/>
          </a:prstGeom>
          <a:noFill/>
        </p:spPr>
        <p:txBody>
          <a:bodyPr wrap="square">
            <a:spAutoFit/>
          </a:bodyPr>
          <a:lstStyle/>
          <a:p>
            <a:pPr algn="l"/>
            <a:r>
              <a:rPr sz="1200" b="0" i="1">
                <a:solidFill>
                  <a:srgbClr val="555555"/>
                </a:solidFill>
              </a:rPr>
              <a:t>Each log entry documents: tool used · full prompt · AI output · review decision · lesson learned · success flag.
Full log available in results/ai_collab_log.md</a:t>
            </a:r>
          </a:p>
        </p:txBody>
      </p:sp>
      <p:sp>
        <p:nvSpPr>
          <p:cNvPr id="38" name="TextBox 37"/>
          <p:cNvSpPr txBox="1"/>
          <p:nvPr/>
        </p:nvSpPr>
        <p:spPr>
          <a:xfrm>
            <a:off x="457200" y="5760720"/>
            <a:ext cx="5029200" cy="320040"/>
          </a:xfrm>
          <a:prstGeom prst="rect">
            <a:avLst/>
          </a:prstGeom>
          <a:noFill/>
        </p:spPr>
        <p:txBody>
          <a:bodyPr wrap="square">
            <a:spAutoFit/>
          </a:bodyPr>
          <a:lstStyle/>
          <a:p>
            <a:pPr algn="l"/>
            <a:r>
              <a:rPr sz="1400" b="1" i="0">
                <a:solidFill>
                  <a:srgbClr val="2C4770"/>
                </a:solidFill>
              </a:rPr>
              <a:t>AI as Research Partner</a:t>
            </a:r>
          </a:p>
        </p:txBody>
      </p:sp>
      <p:sp>
        <p:nvSpPr>
          <p:cNvPr id="39" name="TextBox 38"/>
          <p:cNvSpPr txBox="1"/>
          <p:nvPr/>
        </p:nvSpPr>
        <p:spPr>
          <a:xfrm>
            <a:off x="457200" y="6080760"/>
            <a:ext cx="11247120" cy="502920"/>
          </a:xfrm>
          <a:prstGeom prst="rect">
            <a:avLst/>
          </a:prstGeom>
          <a:noFill/>
        </p:spPr>
        <p:txBody>
          <a:bodyPr wrap="square">
            <a:spAutoFit/>
          </a:bodyPr>
          <a:lstStyle/>
          <a:p>
            <a:pPr algn="l"/>
            <a:r>
              <a:rPr sz="1300" b="0" i="0">
                <a:solidFill>
                  <a:srgbClr val="1A1A1A"/>
                </a:solidFill>
              </a:rPr>
              <a:t>This project followed the EPPS 6323 "AI as Delegatee" model: research goals were set by the student; AI executed analytical steps under human oversight and review at each stage.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C47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64592"/>
            <a:ext cx="11247120" cy="731520"/>
          </a:xfrm>
          <a:prstGeom prst="rect">
            <a:avLst/>
          </a:prstGeom>
          <a:noFill/>
        </p:spPr>
        <p:txBody>
          <a:bodyPr wrap="square">
            <a:spAutoFit/>
          </a:bodyPr>
          <a:lstStyle/>
          <a:p>
            <a:pPr algn="l"/>
            <a:r>
              <a:rPr sz="3400" b="1" i="0">
                <a:solidFill>
                  <a:srgbClr val="1A1A1A"/>
                </a:solidFill>
              </a:rPr>
              <a:t>Future Directions</a:t>
            </a:r>
          </a:p>
        </p:txBody>
      </p:sp>
      <p:sp>
        <p:nvSpPr>
          <p:cNvPr id="4" name="TextBox 3"/>
          <p:cNvSpPr txBox="1"/>
          <p:nvPr/>
        </p:nvSpPr>
        <p:spPr>
          <a:xfrm>
            <a:off x="457200" y="868680"/>
            <a:ext cx="11247120" cy="411480"/>
          </a:xfrm>
          <a:prstGeom prst="rect">
            <a:avLst/>
          </a:prstGeom>
          <a:noFill/>
        </p:spPr>
        <p:txBody>
          <a:bodyPr wrap="square">
            <a:spAutoFit/>
          </a:bodyPr>
          <a:lstStyle/>
          <a:p>
            <a:pPr algn="l"/>
            <a:r>
              <a:rPr sz="1800" b="0" i="0">
                <a:solidFill>
                  <a:srgbClr val="555555"/>
                </a:solidFill>
              </a:rPr>
              <a:t>Four extensions that would strengthen and broaden these findings</a:t>
            </a:r>
          </a:p>
        </p:txBody>
      </p:sp>
      <p:sp>
        <p:nvSpPr>
          <p:cNvPr id="5" name="Rectangle 4"/>
          <p:cNvSpPr/>
          <p:nvPr/>
        </p:nvSpPr>
        <p:spPr>
          <a:xfrm>
            <a:off x="457200" y="1371600"/>
            <a:ext cx="5394960" cy="19202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594360" y="1508760"/>
            <a:ext cx="384048" cy="384048"/>
          </a:xfrm>
          <a:prstGeom prst="ellipse">
            <a:avLst/>
          </a:prstGeom>
          <a:solidFill>
            <a:srgbClr val="2C47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536192"/>
            <a:ext cx="384048" cy="320040"/>
          </a:xfrm>
          <a:prstGeom prst="rect">
            <a:avLst/>
          </a:prstGeom>
          <a:noFill/>
        </p:spPr>
        <p:txBody>
          <a:bodyPr wrap="square">
            <a:spAutoFit/>
          </a:bodyPr>
          <a:lstStyle/>
          <a:p>
            <a:pPr algn="ctr"/>
            <a:r>
              <a:rPr sz="1300" b="1" i="0">
                <a:solidFill>
                  <a:srgbClr val="FFFFFF"/>
                </a:solidFill>
              </a:rPr>
              <a:t>1</a:t>
            </a:r>
          </a:p>
        </p:txBody>
      </p:sp>
      <p:sp>
        <p:nvSpPr>
          <p:cNvPr id="8" name="TextBox 7"/>
          <p:cNvSpPr txBox="1"/>
          <p:nvPr/>
        </p:nvSpPr>
        <p:spPr>
          <a:xfrm>
            <a:off x="1115568" y="1508760"/>
            <a:ext cx="4572000" cy="384048"/>
          </a:xfrm>
          <a:prstGeom prst="rect">
            <a:avLst/>
          </a:prstGeom>
          <a:noFill/>
        </p:spPr>
        <p:txBody>
          <a:bodyPr wrap="square">
            <a:spAutoFit/>
          </a:bodyPr>
          <a:lstStyle/>
          <a:p>
            <a:pPr algn="l"/>
            <a:r>
              <a:rPr sz="1500" b="1" i="0">
                <a:solidFill>
                  <a:srgbClr val="1A1A1A"/>
                </a:solidFill>
              </a:rPr>
              <a:t>Expand the corpus</a:t>
            </a:r>
          </a:p>
        </p:txBody>
      </p:sp>
      <p:sp>
        <p:nvSpPr>
          <p:cNvPr id="9" name="TextBox 8"/>
          <p:cNvSpPr txBox="1"/>
          <p:nvPr/>
        </p:nvSpPr>
        <p:spPr>
          <a:xfrm>
            <a:off x="594360" y="1965960"/>
            <a:ext cx="5120640" cy="1188720"/>
          </a:xfrm>
          <a:prstGeom prst="rect">
            <a:avLst/>
          </a:prstGeom>
          <a:noFill/>
        </p:spPr>
        <p:txBody>
          <a:bodyPr wrap="square">
            <a:spAutoFit/>
          </a:bodyPr>
          <a:lstStyle/>
          <a:p>
            <a:pPr algn="l"/>
            <a:r>
              <a:rPr sz="1300" b="0" i="0">
                <a:solidFill>
                  <a:srgbClr val="555555"/>
                </a:solidFill>
              </a:rPr>
              <a:t>Collect a larger, nationally representative sample of enacted voting legislation — not just introduced bills — to test whether the directional patterns hold for laws that actually took effect.</a:t>
            </a:r>
          </a:p>
        </p:txBody>
      </p:sp>
      <p:sp>
        <p:nvSpPr>
          <p:cNvPr id="10" name="Rectangle 9"/>
          <p:cNvSpPr/>
          <p:nvPr/>
        </p:nvSpPr>
        <p:spPr>
          <a:xfrm>
            <a:off x="6309360" y="1371600"/>
            <a:ext cx="5394960" cy="19202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446520" y="1508760"/>
            <a:ext cx="384048" cy="384048"/>
          </a:xfrm>
          <a:prstGeom prst="ellipse">
            <a:avLst/>
          </a:prstGeom>
          <a:solidFill>
            <a:srgbClr val="2C47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46520" y="1536192"/>
            <a:ext cx="384048" cy="320040"/>
          </a:xfrm>
          <a:prstGeom prst="rect">
            <a:avLst/>
          </a:prstGeom>
          <a:noFill/>
        </p:spPr>
        <p:txBody>
          <a:bodyPr wrap="square">
            <a:spAutoFit/>
          </a:bodyPr>
          <a:lstStyle/>
          <a:p>
            <a:pPr algn="ctr"/>
            <a:r>
              <a:rPr sz="1300" b="1" i="0">
                <a:solidFill>
                  <a:srgbClr val="FFFFFF"/>
                </a:solidFill>
              </a:rPr>
              <a:t>2</a:t>
            </a:r>
          </a:p>
        </p:txBody>
      </p:sp>
      <p:sp>
        <p:nvSpPr>
          <p:cNvPr id="13" name="TextBox 12"/>
          <p:cNvSpPr txBox="1"/>
          <p:nvPr/>
        </p:nvSpPr>
        <p:spPr>
          <a:xfrm>
            <a:off x="6967728" y="1508760"/>
            <a:ext cx="4572000" cy="384048"/>
          </a:xfrm>
          <a:prstGeom prst="rect">
            <a:avLst/>
          </a:prstGeom>
          <a:noFill/>
        </p:spPr>
        <p:txBody>
          <a:bodyPr wrap="square">
            <a:spAutoFit/>
          </a:bodyPr>
          <a:lstStyle/>
          <a:p>
            <a:pPr algn="l"/>
            <a:r>
              <a:rPr sz="1500" b="1" i="0">
                <a:solidFill>
                  <a:srgbClr val="1A1A1A"/>
                </a:solidFill>
              </a:rPr>
              <a:t>Disaggregate Minnesota</a:t>
            </a:r>
          </a:p>
        </p:txBody>
      </p:sp>
      <p:sp>
        <p:nvSpPr>
          <p:cNvPr id="14" name="TextBox 13"/>
          <p:cNvSpPr txBox="1"/>
          <p:nvPr/>
        </p:nvSpPr>
        <p:spPr>
          <a:xfrm>
            <a:off x="6446520" y="1965960"/>
            <a:ext cx="5120640" cy="1188720"/>
          </a:xfrm>
          <a:prstGeom prst="rect">
            <a:avLst/>
          </a:prstGeom>
          <a:noFill/>
        </p:spPr>
        <p:txBody>
          <a:bodyPr wrap="square">
            <a:spAutoFit/>
          </a:bodyPr>
          <a:lstStyle/>
          <a:p>
            <a:pPr algn="l"/>
            <a:r>
              <a:rPr sz="1300" b="0" i="0">
                <a:solidFill>
                  <a:srgbClr val="555555"/>
                </a:solidFill>
              </a:rPr>
              <a:t>Rerun all analyses with Minnesota bills excluded and compared separately. This would reveal whether Democratic findings reflect a genuine ideological pattern or are driven by one state's distinctive legislative volume and structure.</a:t>
            </a:r>
          </a:p>
        </p:txBody>
      </p:sp>
      <p:sp>
        <p:nvSpPr>
          <p:cNvPr id="15" name="Rectangle 14"/>
          <p:cNvSpPr/>
          <p:nvPr/>
        </p:nvSpPr>
        <p:spPr>
          <a:xfrm>
            <a:off x="457200" y="3474720"/>
            <a:ext cx="5394960" cy="19202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594360" y="3611879"/>
            <a:ext cx="384048" cy="384048"/>
          </a:xfrm>
          <a:prstGeom prst="ellipse">
            <a:avLst/>
          </a:prstGeom>
          <a:solidFill>
            <a:srgbClr val="2C47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94360" y="3639312"/>
            <a:ext cx="384048" cy="320040"/>
          </a:xfrm>
          <a:prstGeom prst="rect">
            <a:avLst/>
          </a:prstGeom>
          <a:noFill/>
        </p:spPr>
        <p:txBody>
          <a:bodyPr wrap="square">
            <a:spAutoFit/>
          </a:bodyPr>
          <a:lstStyle/>
          <a:p>
            <a:pPr algn="ctr"/>
            <a:r>
              <a:rPr sz="1300" b="1" i="0">
                <a:solidFill>
                  <a:srgbClr val="FFFFFF"/>
                </a:solidFill>
              </a:rPr>
              <a:t>3</a:t>
            </a:r>
          </a:p>
        </p:txBody>
      </p:sp>
      <p:sp>
        <p:nvSpPr>
          <p:cNvPr id="18" name="TextBox 17"/>
          <p:cNvSpPr txBox="1"/>
          <p:nvPr/>
        </p:nvSpPr>
        <p:spPr>
          <a:xfrm>
            <a:off x="1115568" y="3611879"/>
            <a:ext cx="4572000" cy="384048"/>
          </a:xfrm>
          <a:prstGeom prst="rect">
            <a:avLst/>
          </a:prstGeom>
          <a:noFill/>
        </p:spPr>
        <p:txBody>
          <a:bodyPr wrap="square">
            <a:spAutoFit/>
          </a:bodyPr>
          <a:lstStyle/>
          <a:p>
            <a:pPr algn="l"/>
            <a:r>
              <a:rPr sz="1500" b="1" i="0">
                <a:solidFill>
                  <a:srgbClr val="1A1A1A"/>
                </a:solidFill>
              </a:rPr>
              <a:t>Refine the AI rubric</a:t>
            </a:r>
          </a:p>
        </p:txBody>
      </p:sp>
      <p:sp>
        <p:nvSpPr>
          <p:cNvPr id="19" name="TextBox 18"/>
          <p:cNvSpPr txBox="1"/>
          <p:nvPr/>
        </p:nvSpPr>
        <p:spPr>
          <a:xfrm>
            <a:off x="594360" y="4069080"/>
            <a:ext cx="5120640" cy="1188720"/>
          </a:xfrm>
          <a:prstGeom prst="rect">
            <a:avLst/>
          </a:prstGeom>
          <a:noFill/>
        </p:spPr>
        <p:txBody>
          <a:bodyPr wrap="square">
            <a:spAutoFit/>
          </a:bodyPr>
          <a:lstStyle/>
          <a:p>
            <a:pPr algn="l"/>
            <a:r>
              <a:rPr sz="1300" b="0" i="0">
                <a:solidFill>
                  <a:srgbClr val="555555"/>
                </a:solidFill>
              </a:rPr>
              <a:t>Distinguish administrative modernization from intentional access restriction — for example, by adding a sub-category for 'procedural reform' that captures bills adding requirements on election administrators rather than on voters.</a:t>
            </a:r>
          </a:p>
        </p:txBody>
      </p:sp>
      <p:sp>
        <p:nvSpPr>
          <p:cNvPr id="20" name="Rectangle 19"/>
          <p:cNvSpPr/>
          <p:nvPr/>
        </p:nvSpPr>
        <p:spPr>
          <a:xfrm>
            <a:off x="6309360" y="3474720"/>
            <a:ext cx="5394960" cy="19202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6446520" y="3611879"/>
            <a:ext cx="384048" cy="384048"/>
          </a:xfrm>
          <a:prstGeom prst="ellipse">
            <a:avLst/>
          </a:prstGeom>
          <a:solidFill>
            <a:srgbClr val="2C47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46520" y="3639312"/>
            <a:ext cx="384048" cy="320040"/>
          </a:xfrm>
          <a:prstGeom prst="rect">
            <a:avLst/>
          </a:prstGeom>
          <a:noFill/>
        </p:spPr>
        <p:txBody>
          <a:bodyPr wrap="square">
            <a:spAutoFit/>
          </a:bodyPr>
          <a:lstStyle/>
          <a:p>
            <a:pPr algn="ctr"/>
            <a:r>
              <a:rPr sz="1300" b="1" i="0">
                <a:solidFill>
                  <a:srgbClr val="FFFFFF"/>
                </a:solidFill>
              </a:rPr>
              <a:t>4</a:t>
            </a:r>
          </a:p>
        </p:txBody>
      </p:sp>
      <p:sp>
        <p:nvSpPr>
          <p:cNvPr id="23" name="TextBox 22"/>
          <p:cNvSpPr txBox="1"/>
          <p:nvPr/>
        </p:nvSpPr>
        <p:spPr>
          <a:xfrm>
            <a:off x="6967728" y="3611879"/>
            <a:ext cx="4572000" cy="384048"/>
          </a:xfrm>
          <a:prstGeom prst="rect">
            <a:avLst/>
          </a:prstGeom>
          <a:noFill/>
        </p:spPr>
        <p:txBody>
          <a:bodyPr wrap="square">
            <a:spAutoFit/>
          </a:bodyPr>
          <a:lstStyle/>
          <a:p>
            <a:pPr algn="l"/>
            <a:r>
              <a:rPr sz="1500" b="1" i="0">
                <a:solidFill>
                  <a:srgbClr val="1A1A1A"/>
                </a:solidFill>
              </a:rPr>
              <a:t>Extend to enacted legislation only</a:t>
            </a:r>
          </a:p>
        </p:txBody>
      </p:sp>
      <p:sp>
        <p:nvSpPr>
          <p:cNvPr id="24" name="TextBox 23"/>
          <p:cNvSpPr txBox="1"/>
          <p:nvPr/>
        </p:nvSpPr>
        <p:spPr>
          <a:xfrm>
            <a:off x="6446520" y="4069080"/>
            <a:ext cx="5120640" cy="1188720"/>
          </a:xfrm>
          <a:prstGeom prst="rect">
            <a:avLst/>
          </a:prstGeom>
          <a:noFill/>
        </p:spPr>
        <p:txBody>
          <a:bodyPr wrap="square">
            <a:spAutoFit/>
          </a:bodyPr>
          <a:lstStyle/>
          <a:p>
            <a:pPr algn="l"/>
            <a:r>
              <a:rPr sz="1300" b="0" i="0">
                <a:solidFill>
                  <a:srgbClr val="555555"/>
                </a:solidFill>
              </a:rPr>
              <a:t>Filter the corpus to bills that passed and were signed into law. The directional balance of enacted laws may differ substantially from the full introduced corpus, particularly in divided-government states.</a:t>
            </a:r>
          </a:p>
        </p:txBody>
      </p:sp>
      <p:sp>
        <p:nvSpPr>
          <p:cNvPr id="25" name="Rectangle 24"/>
          <p:cNvSpPr/>
          <p:nvPr/>
        </p:nvSpPr>
        <p:spPr>
          <a:xfrm>
            <a:off x="0" y="6492240"/>
            <a:ext cx="12188952" cy="365760"/>
          </a:xfrm>
          <a:prstGeom prst="rect">
            <a:avLst/>
          </a:prstGeom>
          <a:solidFill>
            <a:srgbClr val="2C47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57200" y="6510528"/>
            <a:ext cx="11247120" cy="274320"/>
          </a:xfrm>
          <a:prstGeom prst="rect">
            <a:avLst/>
          </a:prstGeom>
          <a:noFill/>
        </p:spPr>
        <p:txBody>
          <a:bodyPr wrap="square">
            <a:spAutoFit/>
          </a:bodyPr>
          <a:lstStyle/>
          <a:p>
            <a:pPr algn="ctr"/>
            <a:r>
              <a:rPr sz="1200" b="0" i="0">
                <a:solidFill>
                  <a:srgbClr val="FFFFFF"/>
                </a:solidFill>
              </a:rPr>
              <a:t>EPPS 6323 — Knowledge Mining  |  Spring 2026  |  Adilene Garibay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18</Slides>
  <Notes>0</Notes>
  <HiddenSlides>0</HiddenSlide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revision>16</cp:revision>
  <dcterms:created xsi:type="dcterms:W3CDTF">2013-01-27T09:14:16Z</dcterms:created>
  <dcterms:modified xsi:type="dcterms:W3CDTF">2026-05-05T21:13:13Z</dcterms:modified>
  <cp:category/>
</cp:coreProperties>
</file>